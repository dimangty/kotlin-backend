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58e0b6be5ce4b71" /><Relationship Type="http://schemas.openxmlformats.org/officeDocument/2006/relationships/extended-properties" Target="/docProps/app.xml" Id="R31889be10ece4a18" /><Relationship Type="http://schemas.openxmlformats.org/officeDocument/2006/relationships/officeDocument" Target="/ppt/presentation.xml" Id="R2b50b991be5c4fd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f0813c53be4f99"/>
  </p:sldMasterIdLst>
  <p:notesMasterIdLst>
    <p:notesMasterId xmlns:r="http://schemas.openxmlformats.org/officeDocument/2006/relationships" r:id="Rff778eaa5c3e418e"/>
  </p:notesMasterIdLst>
  <p:sldIdLst>
    <p:sldId xmlns:r="http://schemas.openxmlformats.org/officeDocument/2006/relationships" id="256" r:id="R1ae126bc859a46f3"/>
    <p:sldId xmlns:r="http://schemas.openxmlformats.org/officeDocument/2006/relationships" id="257" r:id="R2239a3ecf79d497a"/>
    <p:sldId xmlns:r="http://schemas.openxmlformats.org/officeDocument/2006/relationships" id="258" r:id="R600ec9c844724df8"/>
    <p:sldId xmlns:r="http://schemas.openxmlformats.org/officeDocument/2006/relationships" id="259" r:id="Rda9602c2b9e24138"/>
    <p:sldId xmlns:r="http://schemas.openxmlformats.org/officeDocument/2006/relationships" id="260" r:id="Rc6eabb7c26324a45"/>
    <p:sldId xmlns:r="http://schemas.openxmlformats.org/officeDocument/2006/relationships" id="261" r:id="R39e4030e3a1e40b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8929f0c69a49ba" /><Relationship Type="http://schemas.openxmlformats.org/officeDocument/2006/relationships/slideMaster" Target="/ppt/slideMasters/slideMaster1.xml" Id="R5ff0813c53be4f99" /><Relationship Type="http://schemas.openxmlformats.org/officeDocument/2006/relationships/notesMaster" Target="/ppt/notesMasters/notesMaster1.xml" Id="Rff778eaa5c3e418e" /><Relationship Type="http://schemas.openxmlformats.org/officeDocument/2006/relationships/presProps" Target="/ppt/presProps.xml" Id="R4841f1d09e4f4148" /><Relationship Type="http://schemas.openxmlformats.org/officeDocument/2006/relationships/tableStyles" Target="/ppt/tableStyles.xml" Id="Re7a6a44006ad4978" /><Relationship Type="http://schemas.openxmlformats.org/officeDocument/2006/relationships/slide" Target="/ppt/slides/slide1.xml" Id="R1ae126bc859a46f3" /><Relationship Type="http://schemas.openxmlformats.org/officeDocument/2006/relationships/slide" Target="/ppt/slides/slide2.xml" Id="R2239a3ecf79d497a" /><Relationship Type="http://schemas.openxmlformats.org/officeDocument/2006/relationships/slide" Target="/ppt/slides/slide3.xml" Id="R600ec9c844724df8" /><Relationship Type="http://schemas.openxmlformats.org/officeDocument/2006/relationships/slide" Target="/ppt/slides/slide4.xml" Id="Rda9602c2b9e24138" /><Relationship Type="http://schemas.openxmlformats.org/officeDocument/2006/relationships/slide" Target="/ppt/slides/slide5.xml" Id="Rc6eabb7c26324a45" /><Relationship Type="http://schemas.openxmlformats.org/officeDocument/2006/relationships/slide" Target="/ppt/slides/slide6.xml" Id="R39e4030e3a1e40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90cbb9f53246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35521cf71e413e" /><Relationship Type="http://schemas.openxmlformats.org/officeDocument/2006/relationships/notesMaster" Target="/ppt/notesMasters/notesMaster1.xml" Id="R9a3d2ec3027f49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014616514d43be" /><Relationship Type="http://schemas.openxmlformats.org/officeDocument/2006/relationships/notesMaster" Target="/ppt/notesMasters/notesMaster1.xml" Id="R91cbdf434c4546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d08abf252a4f6c" /><Relationship Type="http://schemas.openxmlformats.org/officeDocument/2006/relationships/notesMaster" Target="/ppt/notesMasters/notesMaster1.xml" Id="Rbd72d7fcc07947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286fc50ed940f9" /><Relationship Type="http://schemas.openxmlformats.org/officeDocument/2006/relationships/notesMaster" Target="/ppt/notesMasters/notesMaster1.xml" Id="Rbccf8408f81e4f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d34248616c489c" /><Relationship Type="http://schemas.openxmlformats.org/officeDocument/2006/relationships/notesMaster" Target="/ppt/notesMasters/notesMaster1.xml" Id="R9a3e5723a0b042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8c4e6e692b41e3" /><Relationship Type="http://schemas.openxmlformats.org/officeDocument/2006/relationships/notesMaster" Target="/ppt/notesMasters/notesMaster1.xml" Id="R7fa4852fb1b847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68f5c2c267446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5ee6fd7af244df" /><Relationship Type="http://schemas.openxmlformats.org/officeDocument/2006/relationships/slideLayout" Target="/ppt/slideLayouts/slideLayout1.xml" Id="R2086696a1368477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086696a1368477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93a7bd0eb4fda" /><Relationship Type="http://schemas.openxmlformats.org/officeDocument/2006/relationships/notesSlide" Target="/ppt/notesSlides/notesSlide1.xml" Id="R998075e6719648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f22dac99e443d" /><Relationship Type="http://schemas.openxmlformats.org/officeDocument/2006/relationships/notesSlide" Target="/ppt/notesSlides/notesSlide2.xml" Id="Rc081fad309bc472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6c79710344dcd" /><Relationship Type="http://schemas.openxmlformats.org/officeDocument/2006/relationships/notesSlide" Target="/ppt/notesSlides/notesSlide3.xml" Id="R6d0858ee993a49d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a611c45944fb0" /><Relationship Type="http://schemas.openxmlformats.org/officeDocument/2006/relationships/notesSlide" Target="/ppt/notesSlides/notesSlide4.xml" Id="Ra6aac6cc7c2148e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0428ccfb74e16" /><Relationship Type="http://schemas.openxmlformats.org/officeDocument/2006/relationships/notesSlide" Target="/ppt/notesSlides/notesSlide5.xml" Id="R8781ec0db60f4a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24c6993dd4901" /><Relationship Type="http://schemas.openxmlformats.org/officeDocument/2006/relationships/notesSlide" Target="/ppt/notesSlides/notesSlide6.xml" Id="R6c229fb2bb5845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week-label">
            <a:extLst xmlns:a="http://schemas.openxmlformats.org/drawingml/2006/main">
              <a:ext uri="{FF2B5EF4-FFF2-40B4-BE49-F238E27FC236}">
                <a16:creationId xmlns:a16="http://schemas.microsoft.com/office/drawing/2014/main" id="{BE5B09A0-DBF5-4CCC-96C4-6519A8FFD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8575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НЕДЕЛЯ 5</a:t>
            </a:r>
          </a:p>
        </p:txBody>
      </p:sp>
      <p:sp>
        <p:nvSpPr>
          <p:cNvPr id="2" name="course-label">
            <a:extLst xmlns:a="http://schemas.openxmlformats.org/drawingml/2006/main">
              <a:ext uri="{FF2B5EF4-FFF2-40B4-BE49-F238E27FC236}">
                <a16:creationId xmlns:a16="http://schemas.microsoft.com/office/drawing/2014/main" id="{50F73550-4AAB-42F9-B729-B7DEE51B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"/>
            <a:ext cx="32194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KOTLIN BACKEND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6969B5C-74FD-4843-BE0F-F354FC56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38275"/>
            <a:ext cx="1619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</p:spPr>
      </p:sp>
      <p:sp>
        <p:nvSpPr>
          <p:cNvPr id="4" name="lesson-title">
            <a:extLst xmlns:a="http://schemas.openxmlformats.org/drawingml/2006/main">
              <a:ext uri="{FF2B5EF4-FFF2-40B4-BE49-F238E27FC236}">
                <a16:creationId xmlns:a16="http://schemas.microsoft.com/office/drawing/2014/main" id="{625CC279-D7C6-4517-A8C8-C44DAD96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90700"/>
            <a:ext cx="10668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Составные индексы и EXPLAIN ANALYZE</a:t>
            </a:r>
          </a:p>
        </p:txBody>
      </p:sp>
      <p:sp>
        <p:nvSpPr>
          <p:cNvPr id="5" name="lesson-outcome">
            <a:extLst xmlns:a="http://schemas.openxmlformats.org/drawingml/2006/main">
              <a:ext uri="{FF2B5EF4-FFF2-40B4-BE49-F238E27FC236}">
                <a16:creationId xmlns:a16="http://schemas.microsoft.com/office/drawing/2014/main" id="{65E59D19-C945-4494-85E6-82D5834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629150"/>
            <a:ext cx="10287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Выбирать индекс по запросу и подтверждать решение реальным планом выполнения.</a:t>
            </a:r>
          </a:p>
        </p:txBody>
      </p:sp>
      <p:sp>
        <p:nvSpPr>
          <p:cNvPr id="6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E5736F84-C5E8-420D-8074-E73445DF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229350"/>
            <a:ext cx="5905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Материал урока и лабораторная работа</a:t>
            </a:r>
          </a:p>
        </p:txBody>
      </p:sp>
    </p:spTree>
    <p:extLst>
      <p:ext uri="{BB962C8B-B14F-4D97-AF65-F5344CB8AC3E}">
        <p14:creationId xmlns:p14="http://schemas.microsoft.com/office/powerpoint/2010/main" val="9649807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map-title">
            <a:extLst xmlns:a="http://schemas.openxmlformats.org/drawingml/2006/main">
              <a:ext uri="{FF2B5EF4-FFF2-40B4-BE49-F238E27FC236}">
                <a16:creationId xmlns:a16="http://schemas.microsoft.com/office/drawing/2014/main" id="{C31871A8-7863-46B6-9A1D-28B61AB3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Три опоры урока</a:t>
            </a:r>
          </a:p>
        </p:txBody>
      </p:sp>
      <p:sp>
        <p:nvSpPr>
          <p:cNvPr id="2" name="map-lead">
            <a:extLst xmlns:a="http://schemas.openxmlformats.org/drawingml/2006/main">
              <a:ext uri="{FF2B5EF4-FFF2-40B4-BE49-F238E27FC236}">
                <a16:creationId xmlns:a16="http://schemas.microsoft.com/office/drawing/2014/main" id="{6C1093E7-0D1F-44BA-967D-13205084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Порядок колонок, условие и покрытие имеют смысл только вместе с SQL, распределением и ценой записи.</a:t>
            </a:r>
          </a:p>
        </p:txBody>
      </p:sp>
      <p:sp>
        <p:nvSpPr>
          <p:cNvPr id="3" name="pillar-panel-1">
            <a:extLst xmlns:a="http://schemas.openxmlformats.org/drawingml/2006/main">
              <a:ext uri="{FF2B5EF4-FFF2-40B4-BE49-F238E27FC236}">
                <a16:creationId xmlns:a16="http://schemas.microsoft.com/office/drawing/2014/main" id="{D5282BCC-BC79-4D0E-ACEA-040F0F237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4" name="pillar-title-1">
            <a:extLst xmlns:a="http://schemas.openxmlformats.org/drawingml/2006/main">
              <a:ext uri="{FF2B5EF4-FFF2-40B4-BE49-F238E27FC236}">
                <a16:creationId xmlns:a16="http://schemas.microsoft.com/office/drawing/2014/main" id="{6A81E078-36BA-4CDB-9883-4208A803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Форма запроса</a:t>
            </a:r>
          </a:p>
        </p:txBody>
      </p:sp>
      <p:sp>
        <p:nvSpPr>
          <p:cNvPr id="5" name="pillar-body-1">
            <a:extLst xmlns:a="http://schemas.openxmlformats.org/drawingml/2006/main">
              <a:ext uri="{FF2B5EF4-FFF2-40B4-BE49-F238E27FC236}">
                <a16:creationId xmlns:a16="http://schemas.microsoft.com/office/drawing/2014/main" id="{6E6D8D13-CA78-4E8D-993B-89387D10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Equality, range, ordering и projection определяют полезный префикс и покрытие.</a:t>
            </a:r>
          </a:p>
        </p:txBody>
      </p:sp>
      <p:sp>
        <p:nvSpPr>
          <p:cNvPr id="6" name="pillar-panel-2">
            <a:extLst xmlns:a="http://schemas.openxmlformats.org/drawingml/2006/main">
              <a:ext uri="{FF2B5EF4-FFF2-40B4-BE49-F238E27FC236}">
                <a16:creationId xmlns:a16="http://schemas.microsoft.com/office/drawing/2014/main" id="{48D42C1D-731C-4A7E-A8BF-7106B582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7" name="pillar-title-2">
            <a:extLst xmlns:a="http://schemas.openxmlformats.org/drawingml/2006/main">
              <a:ext uri="{FF2B5EF4-FFF2-40B4-BE49-F238E27FC236}">
                <a16:creationId xmlns:a16="http://schemas.microsoft.com/office/drawing/2014/main" id="{AD369C55-F6D3-470D-9425-4D261625C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Доказательство</a:t>
            </a:r>
          </a:p>
        </p:txBody>
      </p:sp>
      <p:sp>
        <p:nvSpPr>
          <p:cNvPr id="8" name="pillar-body-2">
            <a:extLst xmlns:a="http://schemas.openxmlformats.org/drawingml/2006/main">
              <a:ext uri="{FF2B5EF4-FFF2-40B4-BE49-F238E27FC236}">
                <a16:creationId xmlns:a16="http://schemas.microsoft.com/office/drawing/2014/main" id="{09481BAB-DA40-471F-B9E1-7F3ED6BA5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Estimated/actual rows, buffers и Heap Fetches показывают качество плана.</a:t>
            </a:r>
          </a:p>
        </p:txBody>
      </p:sp>
      <p:sp>
        <p:nvSpPr>
          <p:cNvPr id="9" name="pillar-panel-3">
            <a:extLst xmlns:a="http://schemas.openxmlformats.org/drawingml/2006/main">
              <a:ext uri="{FF2B5EF4-FFF2-40B4-BE49-F238E27FC236}">
                <a16:creationId xmlns:a16="http://schemas.microsoft.com/office/drawing/2014/main" id="{15097319-77CC-4851-869C-18C869D3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76450"/>
            <a:ext cx="3571875" cy="3581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0" name="pillar-title-3">
            <a:extLst xmlns:a="http://schemas.openxmlformats.org/drawingml/2006/main">
              <a:ext uri="{FF2B5EF4-FFF2-40B4-BE49-F238E27FC236}">
                <a16:creationId xmlns:a16="http://schemas.microsoft.com/office/drawing/2014/main" id="{A0FB035D-41B0-4313-BB13-84FA5457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419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Компромисс</a:t>
            </a:r>
          </a:p>
        </p:txBody>
      </p:sp>
      <p:sp>
        <p:nvSpPr>
          <p:cNvPr id="11" name="pillar-body-3">
            <a:extLst xmlns:a="http://schemas.openxmlformats.org/drawingml/2006/main">
              <a:ext uri="{FF2B5EF4-FFF2-40B4-BE49-F238E27FC236}">
                <a16:creationId xmlns:a16="http://schemas.microsoft.com/office/drawing/2014/main" id="{7344BF55-8172-4001-A314-7246178D3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62300"/>
            <a:ext cx="3028950" cy="2076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Partial, covering и специальные индексы экономят чтение ценой места, WAL и writes.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8A395D-7928-46B7-870B-B2F9CA72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1818970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ncepts-title">
            <a:extLst xmlns:a="http://schemas.openxmlformats.org/drawingml/2006/main">
              <a:ext uri="{FF2B5EF4-FFF2-40B4-BE49-F238E27FC236}">
                <a16:creationId xmlns:a16="http://schemas.microsoft.com/office/drawing/2014/main" id="{54903373-9159-45B5-B657-66BA9E9E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 каждого индекса должен быть конкретный потребитель</a:t>
            </a:r>
          </a:p>
        </p:txBody>
      </p:sp>
      <p:sp>
        <p:nvSpPr>
          <p:cNvPr id="2" name="concept-panel-1">
            <a:extLst xmlns:a="http://schemas.openxmlformats.org/drawingml/2006/main">
              <a:ext uri="{FF2B5EF4-FFF2-40B4-BE49-F238E27FC236}">
                <a16:creationId xmlns:a16="http://schemas.microsoft.com/office/drawing/2014/main" id="{788C678C-F412-4AF1-A5A4-F385E813F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3" name="concept-title-1">
            <a:extLst xmlns:a="http://schemas.openxmlformats.org/drawingml/2006/main">
              <a:ext uri="{FF2B5EF4-FFF2-40B4-BE49-F238E27FC236}">
                <a16:creationId xmlns:a16="http://schemas.microsoft.com/office/drawing/2014/main" id="{F3368D55-68C3-4E27-86FC-A4E84C6A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Column order</a:t>
            </a:r>
          </a:p>
        </p:txBody>
      </p:sp>
      <p:sp>
        <p:nvSpPr>
          <p:cNvPr id="4" name="concept-body-1">
            <a:extLst xmlns:a="http://schemas.openxmlformats.org/drawingml/2006/main">
              <a:ext uri="{FF2B5EF4-FFF2-40B4-BE49-F238E27FC236}">
                <a16:creationId xmlns:a16="http://schemas.microsoft.com/office/drawing/2014/main" id="{A879114C-3B9D-4E93-BECF-3F9DA66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Equality-колонки обычно идут перед range/sort; ведущий префикс определяет доступный поиск.</a:t>
            </a:r>
          </a:p>
        </p:txBody>
      </p:sp>
      <p:sp>
        <p:nvSpPr>
          <p:cNvPr id="5" name="concept-panel-2">
            <a:extLst xmlns:a="http://schemas.openxmlformats.org/drawingml/2006/main">
              <a:ext uri="{FF2B5EF4-FFF2-40B4-BE49-F238E27FC236}">
                <a16:creationId xmlns:a16="http://schemas.microsoft.com/office/drawing/2014/main" id="{7293629A-4502-4285-AF17-0C9495EA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428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6" name="concept-title-2">
            <a:extLst xmlns:a="http://schemas.openxmlformats.org/drawingml/2006/main">
              <a:ext uri="{FF2B5EF4-FFF2-40B4-BE49-F238E27FC236}">
                <a16:creationId xmlns:a16="http://schemas.microsoft.com/office/drawing/2014/main" id="{F5D961B0-1D51-4E56-BB85-B9A93CA53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57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INCLUDE</a:t>
            </a:r>
          </a:p>
        </p:txBody>
      </p:sp>
      <p:sp>
        <p:nvSpPr>
          <p:cNvPr id="7" name="concept-body-2">
            <a:extLst xmlns:a="http://schemas.openxmlformats.org/drawingml/2006/main">
              <a:ext uri="{FF2B5EF4-FFF2-40B4-BE49-F238E27FC236}">
                <a16:creationId xmlns:a16="http://schemas.microsoft.com/office/drawing/2014/main" id="{56ADD791-EFCD-44C1-87E7-38F0F25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71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Покрывает projection, но Index Only Scan также зависит от visibility map и видимости tuple.</a:t>
            </a:r>
          </a:p>
        </p:txBody>
      </p:sp>
      <p:sp>
        <p:nvSpPr>
          <p:cNvPr id="8" name="concept-panel-3">
            <a:extLst xmlns:a="http://schemas.openxmlformats.org/drawingml/2006/main">
              <a:ext uri="{FF2B5EF4-FFF2-40B4-BE49-F238E27FC236}">
                <a16:creationId xmlns:a16="http://schemas.microsoft.com/office/drawing/2014/main" id="{E79886F2-A98C-400F-A8D5-B25576D64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9" name="concept-title-3">
            <a:extLst xmlns:a="http://schemas.openxmlformats.org/drawingml/2006/main">
              <a:ext uri="{FF2B5EF4-FFF2-40B4-BE49-F238E27FC236}">
                <a16:creationId xmlns:a16="http://schemas.microsoft.com/office/drawing/2014/main" id="{5A56D717-1EE8-4A46-9987-9CD0BFCA3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Partial / expression</a:t>
            </a:r>
          </a:p>
        </p:txBody>
      </p:sp>
      <p:sp>
        <p:nvSpPr>
          <p:cNvPr id="10" name="concept-body-3">
            <a:extLst xmlns:a="http://schemas.openxmlformats.org/drawingml/2006/main">
              <a:ext uri="{FF2B5EF4-FFF2-40B4-BE49-F238E27FC236}">
                <a16:creationId xmlns:a16="http://schemas.microsoft.com/office/drawing/2014/main" id="{69FDCA99-3464-4289-805A-A9C14C3FC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Уменьшают индекс для устойчивого predicate или вычисляемого выражения.</a:t>
            </a:r>
          </a:p>
        </p:txBody>
      </p:sp>
      <p:sp>
        <p:nvSpPr>
          <p:cNvPr id="11" name="concept-panel-4">
            <a:extLst xmlns:a="http://schemas.openxmlformats.org/drawingml/2006/main">
              <a:ext uri="{FF2B5EF4-FFF2-40B4-BE49-F238E27FC236}">
                <a16:creationId xmlns:a16="http://schemas.microsoft.com/office/drawing/2014/main" id="{5B7D2269-CCDF-42B9-82FC-7B3C963EB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714750"/>
            <a:ext cx="553402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12" name="concept-title-4">
            <a:extLst xmlns:a="http://schemas.openxmlformats.org/drawingml/2006/main">
              <a:ext uri="{FF2B5EF4-FFF2-40B4-BE49-F238E27FC236}">
                <a16:creationId xmlns:a16="http://schemas.microsoft.com/office/drawing/2014/main" id="{4887C355-C84B-43A8-894E-717A10F9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43350"/>
            <a:ext cx="5076825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GIN, GiST, BRIN</a:t>
            </a:r>
          </a:p>
        </p:txBody>
      </p:sp>
      <p:sp>
        <p:nvSpPr>
          <p:cNvPr id="13" name="concept-body-4">
            <a:extLst xmlns:a="http://schemas.openxmlformats.org/drawingml/2006/main">
              <a:ext uri="{FF2B5EF4-FFF2-40B4-BE49-F238E27FC236}">
                <a16:creationId xmlns:a16="http://schemas.microsoft.com/office/drawing/2014/main" id="{68B0084E-9E6F-406F-94F8-70367A4EF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57700"/>
            <a:ext cx="5076825" cy="933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Поддерживают разные типы поиска: membership, geometry/ranges и коррелированные большие таблицы.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9D0A44-F17F-4721-A426-73D12F0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680748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flow-title">
            <a:extLst xmlns:a="http://schemas.openxmlformats.org/drawingml/2006/main">
              <a:ext uri="{FF2B5EF4-FFF2-40B4-BE49-F238E27FC236}">
                <a16:creationId xmlns:a16="http://schemas.microsoft.com/office/drawing/2014/main" id="{31A3A9B6-E383-42EC-83F0-1F490F72E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Индекс выбирают через цикл измерения</a:t>
            </a:r>
          </a:p>
        </p:txBody>
      </p:sp>
      <p:sp>
        <p:nvSpPr>
          <p:cNvPr id="2" name="flow-lead">
            <a:extLst xmlns:a="http://schemas.openxmlformats.org/drawingml/2006/main">
              <a:ext uri="{FF2B5EF4-FFF2-40B4-BE49-F238E27FC236}">
                <a16:creationId xmlns:a16="http://schemas.microsoft.com/office/drawing/2014/main" id="{ED01C20C-9977-4350-8D81-D49C94D0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066800"/>
            <a:ext cx="1066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Один план после индекса ничего не доказывает без исходного плана и описания данных.</a:t>
            </a:r>
          </a:p>
        </p:txBody>
      </p:sp>
      <p:sp>
        <p:nvSpPr>
          <p:cNvPr id="3" name="flow-axis">
            <a:extLst xmlns:a="http://schemas.openxmlformats.org/drawingml/2006/main">
              <a:ext uri="{FF2B5EF4-FFF2-40B4-BE49-F238E27FC236}">
                <a16:creationId xmlns:a16="http://schemas.microsoft.com/office/drawing/2014/main" id="{66B6FC87-9D46-42E2-A2B5-7CFF96A4C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24200"/>
            <a:ext cx="9848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" name="flow-dot-1">
            <a:extLst xmlns:a="http://schemas.openxmlformats.org/drawingml/2006/main">
              <a:ext uri="{FF2B5EF4-FFF2-40B4-BE49-F238E27FC236}">
                <a16:creationId xmlns:a16="http://schemas.microsoft.com/office/drawing/2014/main" id="{FD5836D5-C65F-4531-B282-90FCF72C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3C1BEF87-2E74-4AB6-9B83-9FAC658A6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01 / QUERY</a:t>
            </a:r>
          </a:p>
        </p:txBody>
      </p:sp>
      <p:sp>
        <p:nvSpPr>
          <p:cNvPr id="6" name="flow-step-title-1">
            <a:extLst xmlns:a="http://schemas.openxmlformats.org/drawingml/2006/main">
              <a:ext uri="{FF2B5EF4-FFF2-40B4-BE49-F238E27FC236}">
                <a16:creationId xmlns:a16="http://schemas.microsoft.com/office/drawing/2014/main" id="{C2B040BB-47E5-43F6-9332-A5CEFC78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Зафиксировать SQL</a:t>
            </a:r>
          </a:p>
        </p:txBody>
      </p:sp>
      <p:sp>
        <p:nvSpPr>
          <p:cNvPr id="7" name="flow-step-body-1">
            <a:extLst xmlns:a="http://schemas.openxmlformats.org/drawingml/2006/main">
              <a:ext uri="{FF2B5EF4-FFF2-40B4-BE49-F238E27FC236}">
                <a16:creationId xmlns:a16="http://schemas.microsoft.com/office/drawing/2014/main" id="{630D0493-8CA3-4D47-A55D-5815BF27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Определить predicates, ordering, projection и частоты значений.</a:t>
            </a:r>
          </a:p>
        </p:txBody>
      </p:sp>
      <p:sp>
        <p:nvSpPr>
          <p:cNvPr id="8" name="flow-dot-2">
            <a:extLst xmlns:a="http://schemas.openxmlformats.org/drawingml/2006/main">
              <a:ext uri="{FF2B5EF4-FFF2-40B4-BE49-F238E27FC236}">
                <a16:creationId xmlns:a16="http://schemas.microsoft.com/office/drawing/2014/main" id="{1BA26C19-63B5-4858-A75F-1DB5B7B5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BAAF1804-BDCF-43A3-8054-67BF5E052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02 / PLAN</a:t>
            </a:r>
          </a:p>
        </p:txBody>
      </p:sp>
      <p:sp>
        <p:nvSpPr>
          <p:cNvPr id="10" name="flow-step-title-2">
            <a:extLst xmlns:a="http://schemas.openxmlformats.org/drawingml/2006/main">
              <a:ext uri="{FF2B5EF4-FFF2-40B4-BE49-F238E27FC236}">
                <a16:creationId xmlns:a16="http://schemas.microsoft.com/office/drawing/2014/main" id="{E7285A25-A4CE-439B-8371-B107E638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Измерить baseline</a:t>
            </a:r>
          </a:p>
        </p:txBody>
      </p:sp>
      <p:sp>
        <p:nvSpPr>
          <p:cNvPr id="11" name="flow-step-body-2">
            <a:extLst xmlns:a="http://schemas.openxmlformats.org/drawingml/2006/main">
              <a:ext uri="{FF2B5EF4-FFF2-40B4-BE49-F238E27FC236}">
                <a16:creationId xmlns:a16="http://schemas.microsoft.com/office/drawing/2014/main" id="{060B9B29-9A32-486E-93A8-5C031C2E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Сохранить actual rows, buffers, time и расхождение оценок.</a:t>
            </a:r>
          </a:p>
        </p:txBody>
      </p:sp>
      <p:sp>
        <p:nvSpPr>
          <p:cNvPr id="12" name="flow-dot-3">
            <a:extLst xmlns:a="http://schemas.openxmlformats.org/drawingml/2006/main">
              <a:ext uri="{FF2B5EF4-FFF2-40B4-BE49-F238E27FC236}">
                <a16:creationId xmlns:a16="http://schemas.microsoft.com/office/drawing/2014/main" id="{B1C08971-35BF-4FFB-B7D9-056E71C74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6705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3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B21D6663-92FA-4679-883B-21FD0A5D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438400"/>
            <a:ext cx="2476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03 / INDEX</a:t>
            </a:r>
          </a:p>
        </p:txBody>
      </p:sp>
      <p:sp>
        <p:nvSpPr>
          <p:cNvPr id="14" name="flow-step-title-3">
            <a:extLst xmlns:a="http://schemas.openxmlformats.org/drawingml/2006/main">
              <a:ext uri="{FF2B5EF4-FFF2-40B4-BE49-F238E27FC236}">
                <a16:creationId xmlns:a16="http://schemas.microsoft.com/office/drawing/2014/main" id="{894741FF-80D6-4CC0-9EA0-CAB932E7F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30289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Изменить и повторить</a:t>
            </a:r>
          </a:p>
        </p:txBody>
      </p:sp>
      <p:sp>
        <p:nvSpPr>
          <p:cNvPr id="15" name="flow-step-body-3">
            <a:extLst xmlns:a="http://schemas.openxmlformats.org/drawingml/2006/main">
              <a:ext uri="{FF2B5EF4-FFF2-40B4-BE49-F238E27FC236}">
                <a16:creationId xmlns:a16="http://schemas.microsoft.com/office/drawing/2014/main" id="{7DC7123E-6AF8-435E-B220-1E6EEDB9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30289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Добавить минимальный индекс, повторить plan и оценить write overhead.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0BC14-037B-4108-A2CE-D2E9F5093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43197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ractice-title">
            <a:extLst xmlns:a="http://schemas.openxmlformats.org/drawingml/2006/main">
              <a:ext uri="{FF2B5EF4-FFF2-40B4-BE49-F238E27FC236}">
                <a16:creationId xmlns:a16="http://schemas.microsoft.com/office/drawing/2014/main" id="{6EEFF1F1-5D17-4715-915F-6F0711D10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Лаборатория превращает теорию в доказательство</a:t>
            </a:r>
          </a:p>
        </p:txBody>
      </p:sp>
      <p:sp>
        <p:nvSpPr>
          <p:cNvPr id="2" name="command-strip">
            <a:extLst xmlns:a="http://schemas.openxmlformats.org/drawingml/2006/main">
              <a:ext uri="{FF2B5EF4-FFF2-40B4-BE49-F238E27FC236}">
                <a16:creationId xmlns:a16="http://schemas.microsoft.com/office/drawing/2014/main" id="{D7CE9F21-46EA-4B56-A190-C606C0F95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14014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  <a:prstDash val="solid"/>
          </a:ln>
        </p:spPr>
      </p:sp>
      <p:sp>
        <p:nvSpPr>
          <p:cNvPr id="3" name="practice-command">
            <a:extLst xmlns:a="http://schemas.openxmlformats.org/drawingml/2006/main">
              <a:ext uri="{FF2B5EF4-FFF2-40B4-BE49-F238E27FC236}">
                <a16:creationId xmlns:a16="http://schemas.microsoft.com/office/drawing/2014/main" id="{B17B5557-3F4D-48EB-A782-486C41BD2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323975"/>
            <a:ext cx="109442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t>docker compose up -d   # EXPLAIN (ANALYZE, BUFFERS) для history query</a:t>
            </a:r>
          </a:p>
        </p:txBody>
      </p:sp>
      <p:sp>
        <p:nvSpPr>
          <p:cNvPr id="4" name="tasks-panel">
            <a:extLst xmlns:a="http://schemas.openxmlformats.org/drawingml/2006/main">
              <a:ext uri="{FF2B5EF4-FFF2-40B4-BE49-F238E27FC236}">
                <a16:creationId xmlns:a16="http://schemas.microsoft.com/office/drawing/2014/main" id="{8456DF07-5CAD-4D7E-B48F-D51A898F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5" name="tasks-title">
            <a:extLst xmlns:a="http://schemas.openxmlformats.org/drawingml/2006/main">
              <a:ext uri="{FF2B5EF4-FFF2-40B4-BE49-F238E27FC236}">
                <a16:creationId xmlns:a16="http://schemas.microsoft.com/office/drawing/2014/main" id="{B6866DE4-1E68-4447-BD61-1225CB47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Сделать</a:t>
            </a:r>
          </a:p>
        </p:txBody>
      </p:sp>
      <p:sp>
        <p:nvSpPr>
          <p:cNvPr id="6" name="tasks-list">
            <a:extLst xmlns:a="http://schemas.openxmlformats.org/drawingml/2006/main">
              <a:ext uri="{FF2B5EF4-FFF2-40B4-BE49-F238E27FC236}">
                <a16:creationId xmlns:a16="http://schemas.microsoft.com/office/drawing/2014/main" id="{BA8BE5D6-531B-4A11-B0D8-CE4882A16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Сравнить два порядка колонок.
- Создать partial index для PENDING.
- Добиться Index Only Scan.
- Проверить expression, GIN и BRIN.</a:t>
            </a:r>
          </a:p>
        </p:txBody>
      </p:sp>
      <p:sp>
        <p:nvSpPr>
          <p:cNvPr id="7" name="evidence-panel">
            <a:extLst xmlns:a="http://schemas.openxmlformats.org/drawingml/2006/main">
              <a:ext uri="{FF2B5EF4-FFF2-40B4-BE49-F238E27FC236}">
                <a16:creationId xmlns:a16="http://schemas.microsoft.com/office/drawing/2014/main" id="{220B5848-C3B6-477F-B2DB-E28A66C86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47900"/>
            <a:ext cx="553402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8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9BC5D920-87B5-42DA-BA61-31240204B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533650"/>
            <a:ext cx="4953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Доказать результат</a:t>
            </a:r>
          </a:p>
        </p:txBody>
      </p:sp>
      <p:sp>
        <p:nvSpPr>
          <p:cNvPr id="9" name="evidence-list">
            <a:extLst xmlns:a="http://schemas.openxmlformats.org/drawingml/2006/main">
              <a:ext uri="{FF2B5EF4-FFF2-40B4-BE49-F238E27FC236}">
                <a16:creationId xmlns:a16="http://schemas.microsoft.com/office/drawing/2014/main" id="{445A51C8-B151-48F8-B563-3FEC83ED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105150"/>
            <a:ext cx="4953000" cy="2152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Сохранены планы до и после.
- Объяснены estimated vs actual rows.
- Heap Fetches проверены после UPDATE/VACUUM.
- Измерены размер и INSERT overhead.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7E406-2143-4679-AA93-7A122F97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053002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view-eyebrow">
            <a:extLst xmlns:a="http://schemas.openxmlformats.org/drawingml/2006/main">
              <a:ext uri="{FF2B5EF4-FFF2-40B4-BE49-F238E27FC236}">
                <a16:creationId xmlns:a16="http://schemas.microsoft.com/office/drawing/2014/main" id="{EB85CA0D-5099-4953-A7A2-A1650C42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2286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t>ПРОВЕРКА</a:t>
            </a:r>
          </a:p>
        </p:txBody>
      </p:sp>
      <p:sp>
        <p:nvSpPr>
          <p:cNvPr id="2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EC4B781C-F44C-4C9D-99D8-2EA2F608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104900"/>
            <a:ext cx="106680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Урок освоен, если решение можно объяснить и проверить</a:t>
            </a:r>
          </a:p>
        </p:txBody>
      </p:sp>
      <p:sp>
        <p:nvSpPr>
          <p:cNvPr id="3" name="criteria-panel">
            <a:extLst xmlns:a="http://schemas.openxmlformats.org/drawingml/2006/main">
              <a:ext uri="{FF2B5EF4-FFF2-40B4-BE49-F238E27FC236}">
                <a16:creationId xmlns:a16="http://schemas.microsoft.com/office/drawing/2014/main" id="{661B4DF6-D577-4D69-BD24-2CD40A8A8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9525">
            <a:solidFill>
              <a:srgbClr val="D0EDFA"/>
            </a:solidFill>
            <a:prstDash val="solid"/>
          </a:ln>
        </p:spPr>
      </p:sp>
      <p:sp>
        <p:nvSpPr>
          <p:cNvPr id="4" name="criteria-title">
            <a:extLst xmlns:a="http://schemas.openxmlformats.org/drawingml/2006/main">
              <a:ext uri="{FF2B5EF4-FFF2-40B4-BE49-F238E27FC236}">
                <a16:creationId xmlns:a16="http://schemas.microsoft.com/office/drawing/2014/main" id="{6E2FC4B3-939F-4824-830F-5E43A8742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Критерии готовности</a:t>
            </a:r>
          </a:p>
        </p:txBody>
      </p:sp>
      <p:sp>
        <p:nvSpPr>
          <p:cNvPr id="5" name="criteria-list">
            <a:extLst xmlns:a="http://schemas.openxmlformats.org/drawingml/2006/main">
              <a:ext uri="{FF2B5EF4-FFF2-40B4-BE49-F238E27FC236}">
                <a16:creationId xmlns:a16="http://schemas.microsoft.com/office/drawing/2014/main" id="{D82CF0D3-D1A7-401E-B511-B185DFB1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Для индекса назван ускоряемый запрос.
- Leftmost behavior объясняется через порядок ключей.</a:t>
            </a:r>
          </a:p>
        </p:txBody>
      </p:sp>
      <p:sp>
        <p:nvSpPr>
          <p:cNvPr id="6" name="questions-panel">
            <a:extLst xmlns:a="http://schemas.openxmlformats.org/drawingml/2006/main">
              <a:ext uri="{FF2B5EF4-FFF2-40B4-BE49-F238E27FC236}">
                <a16:creationId xmlns:a16="http://schemas.microsoft.com/office/drawing/2014/main" id="{B53B6C85-12FD-47C2-BCDE-B46E8135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667000"/>
            <a:ext cx="5534025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2F2F2"/>
            </a:solidFill>
            <a:prstDash val="solid"/>
          </a:ln>
        </p:spPr>
      </p:sp>
      <p:sp>
        <p:nvSpPr>
          <p:cNvPr id="7" name="questions-title">
            <a:extLst xmlns:a="http://schemas.openxmlformats.org/drawingml/2006/main">
              <a:ext uri="{FF2B5EF4-FFF2-40B4-BE49-F238E27FC236}">
                <a16:creationId xmlns:a16="http://schemas.microsoft.com/office/drawing/2014/main" id="{81538B0C-A766-4760-AA33-AE8989CA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933700"/>
            <a:ext cx="4953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Вопросы для разбора</a:t>
            </a:r>
          </a:p>
        </p:txBody>
      </p:sp>
      <p:sp>
        <p:nvSpPr>
          <p:cNvPr id="8" name="questions-list">
            <a:extLst xmlns:a="http://schemas.openxmlformats.org/drawingml/2006/main">
              <a:ext uri="{FF2B5EF4-FFF2-40B4-BE49-F238E27FC236}">
                <a16:creationId xmlns:a16="http://schemas.microsoft.com/office/drawing/2014/main" id="{21053D84-9879-45F2-AB00-4F6411502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524250"/>
            <a:ext cx="4953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- Почему два порядка колонок неэквивалентны?
- Когда Bitmap Heap Scan выгоден?
- Когда partial index безопасен?</a:t>
            </a:r>
          </a:p>
        </p:txBody>
      </p:sp>
      <p:sp>
        <p:nvSpPr>
          <p:cNvPr id="9" name="review-close">
            <a:extLst xmlns:a="http://schemas.openxmlformats.org/drawingml/2006/main">
              <a:ext uri="{FF2B5EF4-FFF2-40B4-BE49-F238E27FC236}">
                <a16:creationId xmlns:a16="http://schemas.microsoft.com/office/drawing/2014/main" id="{EFD7D23D-DE64-4711-92ED-4357F5F0B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905500"/>
            <a:ext cx="10668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Следующий шаг: применить plans к транзакциям и конкурентным изменениям.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58D622-4302-43C8-B65A-F59AC22F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027244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2026-07-22T07:24:12.4720000Z</dcterms:created>
  <dcterms:modified xsi:type="dcterms:W3CDTF">2026-07-22T07:24:12.4720000Z</dcterms:modified>
</coreProperties>
</file>