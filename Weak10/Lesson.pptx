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b42d4e9bac4cc6" /><Relationship Type="http://schemas.openxmlformats.org/officeDocument/2006/relationships/extended-properties" Target="/docProps/app.xml" Id="Radf37c92c90148f0" /><Relationship Type="http://schemas.openxmlformats.org/officeDocument/2006/relationships/officeDocument" Target="/ppt/presentation.xml" Id="R51074dfc1d3649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3fe9cdd3f3437c"/>
  </p:sldMasterIdLst>
  <p:notesMasterIdLst>
    <p:notesMasterId xmlns:r="http://schemas.openxmlformats.org/officeDocument/2006/relationships" r:id="Rbf48313aff264a8b"/>
  </p:notesMasterIdLst>
  <p:sldIdLst>
    <p:sldId xmlns:r="http://schemas.openxmlformats.org/officeDocument/2006/relationships" id="256" r:id="R203d366995894fb9"/>
    <p:sldId xmlns:r="http://schemas.openxmlformats.org/officeDocument/2006/relationships" id="257" r:id="R8fe45575e68a4a1a"/>
    <p:sldId xmlns:r="http://schemas.openxmlformats.org/officeDocument/2006/relationships" id="258" r:id="R9421ad7276eb4176"/>
    <p:sldId xmlns:r="http://schemas.openxmlformats.org/officeDocument/2006/relationships" id="259" r:id="R449ceb1cc1c54b20"/>
    <p:sldId xmlns:r="http://schemas.openxmlformats.org/officeDocument/2006/relationships" id="260" r:id="R70f3a3ffce78415f"/>
    <p:sldId xmlns:r="http://schemas.openxmlformats.org/officeDocument/2006/relationships" id="261" r:id="Re3e5208f8971466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ac4c7a06b74133" /><Relationship Type="http://schemas.openxmlformats.org/officeDocument/2006/relationships/slideMaster" Target="/ppt/slideMasters/slideMaster1.xml" Id="R103fe9cdd3f3437c" /><Relationship Type="http://schemas.openxmlformats.org/officeDocument/2006/relationships/notesMaster" Target="/ppt/notesMasters/notesMaster1.xml" Id="Rbf48313aff264a8b" /><Relationship Type="http://schemas.openxmlformats.org/officeDocument/2006/relationships/presProps" Target="/ppt/presProps.xml" Id="R47f21ab1d5c0451b" /><Relationship Type="http://schemas.openxmlformats.org/officeDocument/2006/relationships/tableStyles" Target="/ppt/tableStyles.xml" Id="R3379c0ad3590423f" /><Relationship Type="http://schemas.openxmlformats.org/officeDocument/2006/relationships/slide" Target="/ppt/slides/slide1.xml" Id="R203d366995894fb9" /><Relationship Type="http://schemas.openxmlformats.org/officeDocument/2006/relationships/slide" Target="/ppt/slides/slide2.xml" Id="R8fe45575e68a4a1a" /><Relationship Type="http://schemas.openxmlformats.org/officeDocument/2006/relationships/slide" Target="/ppt/slides/slide3.xml" Id="R9421ad7276eb4176" /><Relationship Type="http://schemas.openxmlformats.org/officeDocument/2006/relationships/slide" Target="/ppt/slides/slide4.xml" Id="R449ceb1cc1c54b20" /><Relationship Type="http://schemas.openxmlformats.org/officeDocument/2006/relationships/slide" Target="/ppt/slides/slide5.xml" Id="R70f3a3ffce78415f" /><Relationship Type="http://schemas.openxmlformats.org/officeDocument/2006/relationships/slide" Target="/ppt/slides/slide6.xml" Id="Re3e5208f897146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7f0888ed004c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502b0d6ffd476e" /><Relationship Type="http://schemas.openxmlformats.org/officeDocument/2006/relationships/notesMaster" Target="/ppt/notesMasters/notesMaster1.xml" Id="R3f1b115e08a44e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0316900ff24434" /><Relationship Type="http://schemas.openxmlformats.org/officeDocument/2006/relationships/notesMaster" Target="/ppt/notesMasters/notesMaster1.xml" Id="R9a0a9341434143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2e80e2ed964d02" /><Relationship Type="http://schemas.openxmlformats.org/officeDocument/2006/relationships/notesMaster" Target="/ppt/notesMasters/notesMaster1.xml" Id="Rd05f4bbc444244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394c5c2ba24845" /><Relationship Type="http://schemas.openxmlformats.org/officeDocument/2006/relationships/notesMaster" Target="/ppt/notesMasters/notesMaster1.xml" Id="R5008b0b1414142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71bd0eaffe467d" /><Relationship Type="http://schemas.openxmlformats.org/officeDocument/2006/relationships/notesMaster" Target="/ppt/notesMasters/notesMaster1.xml" Id="R5a9e84949cd74b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83fa30d8854b86" /><Relationship Type="http://schemas.openxmlformats.org/officeDocument/2006/relationships/notesMaster" Target="/ppt/notesMasters/notesMaster1.xml" Id="Rf4f3762c13c24e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480bbccf9445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6046d9e8344231" /><Relationship Type="http://schemas.openxmlformats.org/officeDocument/2006/relationships/slideLayout" Target="/ppt/slideLayouts/slideLayout1.xml" Id="R37f7c2284bb34e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f7c2284bb34e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5e277f19b41cd" /><Relationship Type="http://schemas.openxmlformats.org/officeDocument/2006/relationships/notesSlide" Target="/ppt/notesSlides/notesSlide1.xml" Id="R72187955c39146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52b8aa47e4d32" /><Relationship Type="http://schemas.openxmlformats.org/officeDocument/2006/relationships/notesSlide" Target="/ppt/notesSlides/notesSlide2.xml" Id="R7e8bb5efd09743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5c277424e4ad4" /><Relationship Type="http://schemas.openxmlformats.org/officeDocument/2006/relationships/notesSlide" Target="/ppt/notesSlides/notesSlide3.xml" Id="R9dc20eaea64e47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ef4d7a0d04226" /><Relationship Type="http://schemas.openxmlformats.org/officeDocument/2006/relationships/notesSlide" Target="/ppt/notesSlides/notesSlide4.xml" Id="Ree78618600dc4a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fb49c83734315" /><Relationship Type="http://schemas.openxmlformats.org/officeDocument/2006/relationships/notesSlide" Target="/ppt/notesSlides/notesSlide5.xml" Id="R89f0a19ac5f64e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a73c969c8847be" /><Relationship Type="http://schemas.openxmlformats.org/officeDocument/2006/relationships/notesSlide" Target="/ppt/notesSlides/notesSlide6.xml" Id="Rbc0fe84af7074e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week-label">
            <a:extLst xmlns:a="http://schemas.openxmlformats.org/drawingml/2006/main">
              <a:ext uri="{FF2B5EF4-FFF2-40B4-BE49-F238E27FC236}">
                <a16:creationId xmlns:a16="http://schemas.microsoft.com/office/drawing/2014/main" id="{F36B603D-2497-4B63-B5A9-75660167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2857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НЕДЕЛЯ 10</a:t>
            </a:r>
          </a:p>
        </p:txBody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89A126C1-AC85-46C8-8036-9EEFD38B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"/>
            <a:ext cx="32194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8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KOTLIN BACKEND</a:t>
            </a:r>
          </a:p>
        </p:txBody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B5B6A537-6140-423A-AFA6-27056C86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38275"/>
            <a:ext cx="161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4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FB0DDE9B-3E37-4D29-9A05-47335AFE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Тестирование базы и конкурентности</a:t>
            </a:r>
          </a:p>
        </p:txBody>
      </p:sp>
      <p:sp>
        <p:nvSpPr>
          <p:cNvPr id="5" name="lesson-outcome">
            <a:extLst xmlns:a="http://schemas.openxmlformats.org/drawingml/2006/main">
              <a:ext uri="{FF2B5EF4-FFF2-40B4-BE49-F238E27FC236}">
                <a16:creationId xmlns:a16="http://schemas.microsoft.com/office/drawing/2014/main" id="{971D7D34-CCFC-4527-B8E1-20A36DD7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29150"/>
            <a:ext cx="102870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Проверять гарантии настоящего PostgreSQL, а не поведение mock или совместимой in-memory базы.</a:t>
            </a:r>
          </a:p>
        </p:txBody>
      </p:sp>
      <p:sp>
        <p:nvSpPr>
          <p:cNvPr id="6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8879F2CA-00DB-46BC-B41B-CEA3E6C9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2935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Материал урока и лабораторная работа</a:t>
            </a:r>
          </a:p>
        </p:txBody>
      </p:sp>
    </p:spTree>
    <p:extLst>
      <p:ext uri="{BB962C8B-B14F-4D97-AF65-F5344CB8AC3E}">
        <p14:creationId xmlns:p14="http://schemas.microsoft.com/office/powerpoint/2010/main" val="18810094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map-title">
            <a:extLst xmlns:a="http://schemas.openxmlformats.org/drawingml/2006/main">
              <a:ext uri="{FF2B5EF4-FFF2-40B4-BE49-F238E27FC236}">
                <a16:creationId xmlns:a16="http://schemas.microsoft.com/office/drawing/2014/main" id="{818A4CF2-C4A9-499E-8F13-2B645B38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Три опоры урока</a:t>
            </a:r>
          </a:p>
        </p:txBody>
      </p:sp>
      <p:sp>
        <p:nvSpPr>
          <p:cNvPr id="2" name="map-lead">
            <a:extLst xmlns:a="http://schemas.openxmlformats.org/drawingml/2006/main">
              <a:ext uri="{FF2B5EF4-FFF2-40B4-BE49-F238E27FC236}">
                <a16:creationId xmlns:a16="http://schemas.microsoft.com/office/drawing/2014/main" id="{614970C9-A74C-4FD0-BA6E-5339BB7B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04900"/>
            <a:ext cx="10668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Хороший тест управляет конфликтом, ломается без защиты и проверяет бизнес-инвариант.</a:t>
            </a:r>
          </a:p>
        </p:txBody>
      </p:sp>
      <p:sp>
        <p:nvSpPr>
          <p:cNvPr id="3" name="pillar-panel-1">
            <a:extLst xmlns:a="http://schemas.openxmlformats.org/drawingml/2006/main">
              <a:ext uri="{FF2B5EF4-FFF2-40B4-BE49-F238E27FC236}">
                <a16:creationId xmlns:a16="http://schemas.microsoft.com/office/drawing/2014/main" id="{84D7B112-0C5C-4253-95F8-A72B852F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76450"/>
            <a:ext cx="3571875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4" name="pillar-title-1">
            <a:extLst xmlns:a="http://schemas.openxmlformats.org/drawingml/2006/main">
              <a:ext uri="{FF2B5EF4-FFF2-40B4-BE49-F238E27FC236}">
                <a16:creationId xmlns:a16="http://schemas.microsoft.com/office/drawing/2014/main" id="{B21B0A8E-C177-4A5A-831A-9DBFFB1B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19350"/>
            <a:ext cx="3028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Real database</a:t>
            </a:r>
          </a:p>
        </p:txBody>
      </p:sp>
      <p:sp>
        <p:nvSpPr>
          <p:cNvPr id="5" name="pillar-body-1">
            <a:extLst xmlns:a="http://schemas.openxmlformats.org/drawingml/2006/main">
              <a:ext uri="{FF2B5EF4-FFF2-40B4-BE49-F238E27FC236}">
                <a16:creationId xmlns:a16="http://schemas.microsoft.com/office/drawing/2014/main" id="{43BE6D70-2B6D-4374-8745-E0A7DE1F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62300"/>
            <a:ext cx="3028950" cy="2076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Testcontainers поднимает PostgreSQL нужной версии, Flyway и настоящие constraints.</a:t>
            </a:r>
          </a:p>
        </p:txBody>
      </p:sp>
      <p:sp>
        <p:nvSpPr>
          <p:cNvPr id="6" name="pillar-panel-2">
            <a:extLst xmlns:a="http://schemas.openxmlformats.org/drawingml/2006/main">
              <a:ext uri="{FF2B5EF4-FFF2-40B4-BE49-F238E27FC236}">
                <a16:creationId xmlns:a16="http://schemas.microsoft.com/office/drawing/2014/main" id="{D97AEFE0-161A-4517-8BC8-CE7E2AEA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76450"/>
            <a:ext cx="3571875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D0EDFA"/>
            </a:solidFill>
            <a:prstDash val="solid"/>
          </a:ln>
        </p:spPr>
      </p:sp>
      <p:sp>
        <p:nvSpPr>
          <p:cNvPr id="7" name="pillar-title-2">
            <a:extLst xmlns:a="http://schemas.openxmlformats.org/drawingml/2006/main">
              <a:ext uri="{FF2B5EF4-FFF2-40B4-BE49-F238E27FC236}">
                <a16:creationId xmlns:a16="http://schemas.microsoft.com/office/drawing/2014/main" id="{E4265D5F-CBF8-42F6-9300-F09AA18A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419350"/>
            <a:ext cx="3028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Deterministic race</a:t>
            </a:r>
          </a:p>
        </p:txBody>
      </p:sp>
      <p:sp>
        <p:nvSpPr>
          <p:cNvPr id="8" name="pillar-body-2">
            <a:extLst xmlns:a="http://schemas.openxmlformats.org/drawingml/2006/main">
              <a:ext uri="{FF2B5EF4-FFF2-40B4-BE49-F238E27FC236}">
                <a16:creationId xmlns:a16="http://schemas.microsoft.com/office/drawing/2014/main" id="{5AE28260-FC1D-4741-83D6-339E67D2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162300"/>
            <a:ext cx="3028950" cy="2076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Barriers/latches синхронизируют транзакции в точке конфликта вместо случайного timing.</a:t>
            </a:r>
          </a:p>
        </p:txBody>
      </p:sp>
      <p:sp>
        <p:nvSpPr>
          <p:cNvPr id="9" name="pillar-panel-3">
            <a:extLst xmlns:a="http://schemas.openxmlformats.org/drawingml/2006/main">
              <a:ext uri="{FF2B5EF4-FFF2-40B4-BE49-F238E27FC236}">
                <a16:creationId xmlns:a16="http://schemas.microsoft.com/office/drawing/2014/main" id="{A9666DA9-5976-4DDB-8F6C-D3D9DDC0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76450"/>
            <a:ext cx="3571875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10" name="pillar-title-3">
            <a:extLst xmlns:a="http://schemas.openxmlformats.org/drawingml/2006/main">
              <a:ext uri="{FF2B5EF4-FFF2-40B4-BE49-F238E27FC236}">
                <a16:creationId xmlns:a16="http://schemas.microsoft.com/office/drawing/2014/main" id="{8E79AA79-8F69-4A60-BF47-A711835A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19350"/>
            <a:ext cx="3028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Invariant</a:t>
            </a:r>
          </a:p>
        </p:txBody>
      </p:sp>
      <p:sp>
        <p:nvSpPr>
          <p:cNvPr id="11" name="pillar-body-3">
            <a:extLst xmlns:a="http://schemas.openxmlformats.org/drawingml/2006/main">
              <a:ext uri="{FF2B5EF4-FFF2-40B4-BE49-F238E27FC236}">
                <a16:creationId xmlns:a16="http://schemas.microsoft.com/office/drawing/2014/main" id="{C6DC01DC-5BAC-449E-97BF-978944AA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3028950" cy="2076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Общая сумма, отсутствие дубля и rollback важнее проверки внутреннего вызова mock.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6E3F2F-A65C-4227-AC12-F441EF02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647545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ncepts-title">
            <a:extLst xmlns:a="http://schemas.openxmlformats.org/drawingml/2006/main">
              <a:ext uri="{FF2B5EF4-FFF2-40B4-BE49-F238E27FC236}">
                <a16:creationId xmlns:a16="http://schemas.microsoft.com/office/drawing/2014/main" id="{0A714855-42EE-4B46-949C-2C5B9EB0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Тест должен краснеть при удалении механизма защиты</a:t>
            </a:r>
          </a:p>
        </p:txBody>
      </p:sp>
      <p:sp>
        <p:nvSpPr>
          <p:cNvPr id="2" name="concept-panel-1">
            <a:extLst xmlns:a="http://schemas.openxmlformats.org/drawingml/2006/main">
              <a:ext uri="{FF2B5EF4-FFF2-40B4-BE49-F238E27FC236}">
                <a16:creationId xmlns:a16="http://schemas.microsoft.com/office/drawing/2014/main" id="{E531D68E-B0CA-4196-B816-84E4C698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28750"/>
            <a:ext cx="553402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D0EDFA"/>
            </a:solidFill>
            <a:prstDash val="solid"/>
          </a:ln>
        </p:spPr>
      </p:sp>
      <p:sp>
        <p:nvSpPr>
          <p:cNvPr id="3" name="concept-title-1">
            <a:extLst xmlns:a="http://schemas.openxmlformats.org/drawingml/2006/main">
              <a:ext uri="{FF2B5EF4-FFF2-40B4-BE49-F238E27FC236}">
                <a16:creationId xmlns:a16="http://schemas.microsoft.com/office/drawing/2014/main" id="{B6F13A60-4AC4-434E-99DC-523651B7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57350"/>
            <a:ext cx="507682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Test pyramid</a:t>
            </a:r>
          </a:p>
        </p:txBody>
      </p:sp>
      <p:sp>
        <p:nvSpPr>
          <p:cNvPr id="4" name="concept-body-1">
            <a:extLst xmlns:a="http://schemas.openxmlformats.org/drawingml/2006/main">
              <a:ext uri="{FF2B5EF4-FFF2-40B4-BE49-F238E27FC236}">
                <a16:creationId xmlns:a16="http://schemas.microsoft.com/office/drawing/2014/main" id="{0B616707-E81C-462B-A5A4-B2C7ECDC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71700"/>
            <a:ext cx="5076825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Unit быстры, slice проверяют слой, integration связывают БД, end-to-end проверяют поток.</a:t>
            </a:r>
          </a:p>
        </p:txBody>
      </p:sp>
      <p:sp>
        <p:nvSpPr>
          <p:cNvPr id="5" name="concept-panel-2">
            <a:extLst xmlns:a="http://schemas.openxmlformats.org/drawingml/2006/main">
              <a:ext uri="{FF2B5EF4-FFF2-40B4-BE49-F238E27FC236}">
                <a16:creationId xmlns:a16="http://schemas.microsoft.com/office/drawing/2014/main" id="{4D3E6466-C439-4B5E-9488-C4F1C45B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428750"/>
            <a:ext cx="553402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6" name="concept-title-2">
            <a:extLst xmlns:a="http://schemas.openxmlformats.org/drawingml/2006/main">
              <a:ext uri="{FF2B5EF4-FFF2-40B4-BE49-F238E27FC236}">
                <a16:creationId xmlns:a16="http://schemas.microsoft.com/office/drawing/2014/main" id="{E30EF884-7EF8-405C-B1C6-4F8BA20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657350"/>
            <a:ext cx="507682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Migration test</a:t>
            </a:r>
          </a:p>
        </p:txBody>
      </p:sp>
      <p:sp>
        <p:nvSpPr>
          <p:cNvPr id="7" name="concept-body-2">
            <a:extLst xmlns:a="http://schemas.openxmlformats.org/drawingml/2006/main">
              <a:ext uri="{FF2B5EF4-FFF2-40B4-BE49-F238E27FC236}">
                <a16:creationId xmlns:a16="http://schemas.microsoft.com/office/drawing/2014/main" id="{5B5689CF-8C1B-4C67-A855-053139B5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171700"/>
            <a:ext cx="5076825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Чистая база проходит все migrations; существующее состояние проверяет backward compatibility.</a:t>
            </a:r>
          </a:p>
        </p:txBody>
      </p:sp>
      <p:sp>
        <p:nvSpPr>
          <p:cNvPr id="8" name="concept-panel-3">
            <a:extLst xmlns:a="http://schemas.openxmlformats.org/drawingml/2006/main">
              <a:ext uri="{FF2B5EF4-FFF2-40B4-BE49-F238E27FC236}">
                <a16:creationId xmlns:a16="http://schemas.microsoft.com/office/drawing/2014/main" id="{2E1C707C-5637-47C7-8964-52DB5EEA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14750"/>
            <a:ext cx="553402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9" name="concept-title-3">
            <a:extLst xmlns:a="http://schemas.openxmlformats.org/drawingml/2006/main">
              <a:ext uri="{FF2B5EF4-FFF2-40B4-BE49-F238E27FC236}">
                <a16:creationId xmlns:a16="http://schemas.microsoft.com/office/drawing/2014/main" id="{77922EBE-E737-4C27-92FF-7815B1E6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43350"/>
            <a:ext cx="507682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Concurrency control</a:t>
            </a:r>
          </a:p>
        </p:txBody>
      </p:sp>
      <p:sp>
        <p:nvSpPr>
          <p:cNvPr id="10" name="concept-body-3">
            <a:extLst xmlns:a="http://schemas.openxmlformats.org/drawingml/2006/main">
              <a:ext uri="{FF2B5EF4-FFF2-40B4-BE49-F238E27FC236}">
                <a16:creationId xmlns:a16="http://schemas.microsoft.com/office/drawing/2014/main" id="{EC39AE97-FC59-4C29-B0D3-F0706B5B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57700"/>
            <a:ext cx="5076825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Latch останавливает участников после read/lock и освобождает их одновременно.</a:t>
            </a:r>
          </a:p>
        </p:txBody>
      </p:sp>
      <p:sp>
        <p:nvSpPr>
          <p:cNvPr id="11" name="concept-panel-4">
            <a:extLst xmlns:a="http://schemas.openxmlformats.org/drawingml/2006/main">
              <a:ext uri="{FF2B5EF4-FFF2-40B4-BE49-F238E27FC236}">
                <a16:creationId xmlns:a16="http://schemas.microsoft.com/office/drawing/2014/main" id="{DBBB5BC1-64B1-48E3-B996-43C31A40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14750"/>
            <a:ext cx="553402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12" name="concept-title-4">
            <a:extLst xmlns:a="http://schemas.openxmlformats.org/drawingml/2006/main">
              <a:ext uri="{FF2B5EF4-FFF2-40B4-BE49-F238E27FC236}">
                <a16:creationId xmlns:a16="http://schemas.microsoft.com/office/drawing/2014/main" id="{2731E245-7367-4E5E-95FA-ADE4DC82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943350"/>
            <a:ext cx="507682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Mutation check</a:t>
            </a:r>
          </a:p>
        </p:txBody>
      </p:sp>
      <p:sp>
        <p:nvSpPr>
          <p:cNvPr id="13" name="concept-body-4">
            <a:extLst xmlns:a="http://schemas.openxmlformats.org/drawingml/2006/main">
              <a:ext uri="{FF2B5EF4-FFF2-40B4-BE49-F238E27FC236}">
                <a16:creationId xmlns:a16="http://schemas.microsoft.com/office/drawing/2014/main" id="{09CC2D13-5C5D-4B4A-9575-A626BEED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457700"/>
            <a:ext cx="5076825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Удаление UNIQUE, CHECK или atomic predicate должно делать соответствующий тест красным.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8E6513-7205-4E7B-9A62-A2D1D1B7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683267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flow-title">
            <a:extLst xmlns:a="http://schemas.openxmlformats.org/drawingml/2006/main">
              <a:ext uri="{FF2B5EF4-FFF2-40B4-BE49-F238E27FC236}">
                <a16:creationId xmlns:a16="http://schemas.microsoft.com/office/drawing/2014/main" id="{00701DE8-82E4-4198-A986-A8A2F10D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Конкурентный тест сначала создаёт конфликт</a:t>
            </a:r>
          </a:p>
        </p:txBody>
      </p:sp>
      <p:sp>
        <p:nvSpPr>
          <p:cNvPr id="2" name="flow-lead">
            <a:extLst xmlns:a="http://schemas.openxmlformats.org/drawingml/2006/main">
              <a:ext uri="{FF2B5EF4-FFF2-40B4-BE49-F238E27FC236}">
                <a16:creationId xmlns:a16="http://schemas.microsoft.com/office/drawing/2014/main" id="{F396196D-F8B2-4484-987F-2C3A7136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66800"/>
            <a:ext cx="10668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Если race зависит от удачи scheduler, тест не доказывает гарантию.</a:t>
            </a:r>
          </a:p>
        </p:txBody>
      </p:sp>
      <p:sp>
        <p:nvSpPr>
          <p:cNvPr id="3" name="flow-axis">
            <a:extLst xmlns:a="http://schemas.openxmlformats.org/drawingml/2006/main">
              <a:ext uri="{FF2B5EF4-FFF2-40B4-BE49-F238E27FC236}">
                <a16:creationId xmlns:a16="http://schemas.microsoft.com/office/drawing/2014/main" id="{902C79EE-75AB-49AA-98B8-30F4F4E8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24200"/>
            <a:ext cx="9848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4" name="flow-dot-1">
            <a:extLst xmlns:a="http://schemas.openxmlformats.org/drawingml/2006/main">
              <a:ext uri="{FF2B5EF4-FFF2-40B4-BE49-F238E27FC236}">
                <a16:creationId xmlns:a16="http://schemas.microsoft.com/office/drawing/2014/main" id="{0F9230A3-90F6-4840-A220-C9830E75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670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0B8C3EA5-24ED-47D3-855C-85998D33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01 / ARRANGE</a:t>
            </a:r>
          </a:p>
        </p:txBody>
      </p:sp>
      <p:sp>
        <p:nvSpPr>
          <p:cNvPr id="6" name="flow-step-title-1">
            <a:extLst xmlns:a="http://schemas.openxmlformats.org/drawingml/2006/main">
              <a:ext uri="{FF2B5EF4-FFF2-40B4-BE49-F238E27FC236}">
                <a16:creationId xmlns:a16="http://schemas.microsoft.com/office/drawing/2014/main" id="{88D892A3-0AF3-4242-899E-50FD8404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3028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Поднять PostgreSQL</a:t>
            </a:r>
          </a:p>
        </p:txBody>
      </p:sp>
      <p:sp>
        <p:nvSpPr>
          <p:cNvPr id="7" name="flow-step-body-1">
            <a:extLst xmlns:a="http://schemas.openxmlformats.org/drawingml/2006/main">
              <a:ext uri="{FF2B5EF4-FFF2-40B4-BE49-F238E27FC236}">
                <a16:creationId xmlns:a16="http://schemas.microsoft.com/office/drawing/2014/main" id="{95C0261B-BEE1-42CB-B7E0-E077F6A5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30289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Запустить container, применить Flyway и подготовить invariant state.</a:t>
            </a:r>
          </a:p>
        </p:txBody>
      </p:sp>
      <p:sp>
        <p:nvSpPr>
          <p:cNvPr id="8" name="flow-dot-2">
            <a:extLst xmlns:a="http://schemas.openxmlformats.org/drawingml/2006/main">
              <a:ext uri="{FF2B5EF4-FFF2-40B4-BE49-F238E27FC236}">
                <a16:creationId xmlns:a16="http://schemas.microsoft.com/office/drawing/2014/main" id="{ED9D522C-9C7E-4788-AE09-11D370C5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670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9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848EFB0D-8FE4-4892-A651-E3AC0D26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3840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02 / COLLIDE</a:t>
            </a:r>
          </a:p>
        </p:txBody>
      </p:sp>
      <p:sp>
        <p:nvSpPr>
          <p:cNvPr id="10" name="flow-step-title-2">
            <a:extLst xmlns:a="http://schemas.openxmlformats.org/drawingml/2006/main">
              <a:ext uri="{FF2B5EF4-FFF2-40B4-BE49-F238E27FC236}">
                <a16:creationId xmlns:a16="http://schemas.microsoft.com/office/drawing/2014/main" id="{8C1CCB3C-333B-41D5-99E2-007A8059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43300"/>
            <a:ext cx="3028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Синхронизировать T</a:t>
            </a:r>
          </a:p>
        </p:txBody>
      </p:sp>
      <p:sp>
        <p:nvSpPr>
          <p:cNvPr id="11" name="flow-step-body-2">
            <a:extLst xmlns:a="http://schemas.openxmlformats.org/drawingml/2006/main">
              <a:ext uri="{FF2B5EF4-FFF2-40B4-BE49-F238E27FC236}">
                <a16:creationId xmlns:a16="http://schemas.microsoft.com/office/drawing/2014/main" id="{6FC5CF49-06E9-4A77-8AEB-BAAFB5C1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95750"/>
            <a:ext cx="30289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Довести competitors до barrier и одновременно разрешить запись.</a:t>
            </a:r>
          </a:p>
        </p:txBody>
      </p:sp>
      <p:sp>
        <p:nvSpPr>
          <p:cNvPr id="12" name="flow-dot-3">
            <a:extLst xmlns:a="http://schemas.openxmlformats.org/drawingml/2006/main">
              <a:ext uri="{FF2B5EF4-FFF2-40B4-BE49-F238E27FC236}">
                <a16:creationId xmlns:a16="http://schemas.microsoft.com/office/drawing/2014/main" id="{7F390D65-5A9C-440C-B1DA-1D3F7139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670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13" name="flow-label-3">
            <a:extLst xmlns:a="http://schemas.openxmlformats.org/drawingml/2006/main">
              <a:ext uri="{FF2B5EF4-FFF2-40B4-BE49-F238E27FC236}">
                <a16:creationId xmlns:a16="http://schemas.microsoft.com/office/drawing/2014/main" id="{C7863C8A-F9C2-4870-A03B-2758A9C1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3840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03 / ASSERT</a:t>
            </a:r>
          </a:p>
        </p:txBody>
      </p:sp>
      <p:sp>
        <p:nvSpPr>
          <p:cNvPr id="14" name="flow-step-title-3">
            <a:extLst xmlns:a="http://schemas.openxmlformats.org/drawingml/2006/main">
              <a:ext uri="{FF2B5EF4-FFF2-40B4-BE49-F238E27FC236}">
                <a16:creationId xmlns:a16="http://schemas.microsoft.com/office/drawing/2014/main" id="{8B343B2E-3B24-418B-BB90-B2DA64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43300"/>
            <a:ext cx="3028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Проверить invariant</a:t>
            </a:r>
          </a:p>
        </p:txBody>
      </p:sp>
      <p:sp>
        <p:nvSpPr>
          <p:cNvPr id="15" name="flow-step-body-3">
            <a:extLst xmlns:a="http://schemas.openxmlformats.org/drawingml/2006/main">
              <a:ext uri="{FF2B5EF4-FFF2-40B4-BE49-F238E27FC236}">
                <a16:creationId xmlns:a16="http://schemas.microsoft.com/office/drawing/2014/main" id="{F075E89E-40B7-4675-9E8D-BD6CFDEF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30289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Считать итог из БД: сумма, число операций, constraints и retry count.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09468-D4D2-4EC2-BEAB-F7EB58C1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601191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B93391C4-06F8-4E0C-B501-BC693132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Лаборатория превращает теорию в доказательство</a:t>
            </a:r>
          </a:p>
        </p:txBody>
      </p:sp>
      <p:sp>
        <p:nvSpPr>
          <p:cNvPr id="2" name="command-strip">
            <a:extLst xmlns:a="http://schemas.openxmlformats.org/drawingml/2006/main">
              <a:ext uri="{FF2B5EF4-FFF2-40B4-BE49-F238E27FC236}">
                <a16:creationId xmlns:a16="http://schemas.microsoft.com/office/drawing/2014/main" id="{32FEF55C-1D06-4194-BFAA-2B3D6C1F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04900"/>
            <a:ext cx="114014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3" name="practice-command">
            <a:extLst xmlns:a="http://schemas.openxmlformats.org/drawingml/2006/main">
              <a:ext uri="{FF2B5EF4-FFF2-40B4-BE49-F238E27FC236}">
                <a16:creationId xmlns:a16="http://schemas.microsoft.com/office/drawing/2014/main" id="{5A4493EC-2B33-40CE-AED8-A8090B89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23975"/>
            <a:ext cx="109442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t>./gradlew test   # Docker обязателен, локальный порт не используется</a:t>
            </a:r>
          </a:p>
        </p:txBody>
      </p:sp>
      <p:sp>
        <p:nvSpPr>
          <p:cNvPr id="4" name="tasks-panel">
            <a:extLst xmlns:a="http://schemas.openxmlformats.org/drawingml/2006/main">
              <a:ext uri="{FF2B5EF4-FFF2-40B4-BE49-F238E27FC236}">
                <a16:creationId xmlns:a16="http://schemas.microsoft.com/office/drawing/2014/main" id="{7097D9DE-D190-4AF7-84ED-6C2953F9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47900"/>
            <a:ext cx="553402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5" name="tasks-title">
            <a:extLst xmlns:a="http://schemas.openxmlformats.org/drawingml/2006/main">
              <a:ext uri="{FF2B5EF4-FFF2-40B4-BE49-F238E27FC236}">
                <a16:creationId xmlns:a16="http://schemas.microsoft.com/office/drawing/2014/main" id="{F341BFA2-9906-43A2-9005-CC19663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33650"/>
            <a:ext cx="4953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Сделать</a:t>
            </a:r>
          </a:p>
        </p:txBody>
      </p:sp>
      <p:sp>
        <p:nvSpPr>
          <p:cNvPr id="6" name="tasks-list">
            <a:extLst xmlns:a="http://schemas.openxmlformats.org/drawingml/2006/main">
              <a:ext uri="{FF2B5EF4-FFF2-40B4-BE49-F238E27FC236}">
                <a16:creationId xmlns:a16="http://schemas.microsoft.com/office/drawing/2014/main" id="{FE01C668-47F3-4BE7-A349-720E126E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4953000" cy="2152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- Проверить UNIQUE/CHECK/FK.
- Сделать parallel debit через latch.
- Добавить serialization retry test.
- Запустить все migrations на пустой базе.</a:t>
            </a:r>
          </a:p>
        </p:txBody>
      </p:sp>
      <p:sp>
        <p:nvSpPr>
          <p:cNvPr id="7" name="evidence-panel">
            <a:extLst xmlns:a="http://schemas.openxmlformats.org/drawingml/2006/main">
              <a:ext uri="{FF2B5EF4-FFF2-40B4-BE49-F238E27FC236}">
                <a16:creationId xmlns:a16="http://schemas.microsoft.com/office/drawing/2014/main" id="{9918B0BF-049E-45DF-9B03-A872F283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247900"/>
            <a:ext cx="553402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D0EDFA"/>
            </a:solidFill>
            <a:prstDash val="solid"/>
          </a:ln>
        </p:spPr>
      </p:sp>
      <p:sp>
        <p:nvSpPr>
          <p:cNvPr id="8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17B87CD2-F598-4488-AF50-F245E4C3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33650"/>
            <a:ext cx="4953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Доказать результат</a:t>
            </a:r>
          </a:p>
        </p:txBody>
      </p:sp>
      <p:sp>
        <p:nvSpPr>
          <p:cNvPr id="9" name="evidence-list">
            <a:extLst xmlns:a="http://schemas.openxmlformats.org/drawingml/2006/main">
              <a:ext uri="{FF2B5EF4-FFF2-40B4-BE49-F238E27FC236}">
                <a16:creationId xmlns:a16="http://schemas.microsoft.com/office/drawing/2014/main" id="{39F5E18D-9EB5-4B27-AD08-513F8E28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05150"/>
            <a:ext cx="4953000" cy="2152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- Тест падает без constraint/lock.
- Нет sleep-based race.
- Проверяется состояние PostgreSQL.
- Container не зависит от localhost:5432.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0E172-0B4A-4DF8-9851-BE4EEE14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10926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view-eyebrow">
            <a:extLst xmlns:a="http://schemas.openxmlformats.org/drawingml/2006/main">
              <a:ext uri="{FF2B5EF4-FFF2-40B4-BE49-F238E27FC236}">
                <a16:creationId xmlns:a16="http://schemas.microsoft.com/office/drawing/2014/main" id="{A2C1E48A-DD52-43B9-B0F4-887B0E8F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2286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ПРОВЕРКА</a:t>
            </a:r>
          </a:p>
        </p:txBody>
      </p:sp>
      <p:sp>
        <p:nvSpPr>
          <p:cNvPr id="2" name="review-title">
            <a:extLst xmlns:a="http://schemas.openxmlformats.org/drawingml/2006/main">
              <a:ext uri="{FF2B5EF4-FFF2-40B4-BE49-F238E27FC236}">
                <a16:creationId xmlns:a16="http://schemas.microsoft.com/office/drawing/2014/main" id="{78B36218-59B7-4188-90B9-0113FCB9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04900"/>
            <a:ext cx="106680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Урок освоен, если решение можно объяснить и проверить</a:t>
            </a:r>
          </a:p>
        </p:txBody>
      </p:sp>
      <p:sp>
        <p:nvSpPr>
          <p:cNvPr id="3" name="criteria-panel">
            <a:extLst xmlns:a="http://schemas.openxmlformats.org/drawingml/2006/main">
              <a:ext uri="{FF2B5EF4-FFF2-40B4-BE49-F238E27FC236}">
                <a16:creationId xmlns:a16="http://schemas.microsoft.com/office/drawing/2014/main" id="{F9874DF6-D396-4479-9F2A-42990334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67000"/>
            <a:ext cx="5534025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D0EDFA"/>
            </a:solidFill>
            <a:prstDash val="solid"/>
          </a:ln>
        </p:spPr>
      </p:sp>
      <p:sp>
        <p:nvSpPr>
          <p:cNvPr id="4" name="criteria-title">
            <a:extLst xmlns:a="http://schemas.openxmlformats.org/drawingml/2006/main">
              <a:ext uri="{FF2B5EF4-FFF2-40B4-BE49-F238E27FC236}">
                <a16:creationId xmlns:a16="http://schemas.microsoft.com/office/drawing/2014/main" id="{1D1BA46B-E356-411D-A2A4-1185B1AD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3370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Критерии готовности</a:t>
            </a:r>
          </a:p>
        </p:txBody>
      </p:sp>
      <p:sp>
        <p:nvSpPr>
          <p:cNvPr id="5" name="criteria-list">
            <a:extLst xmlns:a="http://schemas.openxmlformats.org/drawingml/2006/main">
              <a:ext uri="{FF2B5EF4-FFF2-40B4-BE49-F238E27FC236}">
                <a16:creationId xmlns:a16="http://schemas.microsoft.com/office/drawing/2014/main" id="{186649A4-D1CA-46DD-97CA-EA58A141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524250"/>
            <a:ext cx="4953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- Тесты воспроизводимы в CI.
- Гарантии проверены на настоящем PostgreSQL.</a:t>
            </a:r>
          </a:p>
        </p:txBody>
      </p:sp>
      <p:sp>
        <p:nvSpPr>
          <p:cNvPr id="6" name="questions-panel">
            <a:extLst xmlns:a="http://schemas.openxmlformats.org/drawingml/2006/main">
              <a:ext uri="{FF2B5EF4-FFF2-40B4-BE49-F238E27FC236}">
                <a16:creationId xmlns:a16="http://schemas.microsoft.com/office/drawing/2014/main" id="{8B408F44-20AC-43BA-A39F-A95A0706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67000"/>
            <a:ext cx="5534025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7" name="questions-title">
            <a:extLst xmlns:a="http://schemas.openxmlformats.org/drawingml/2006/main">
              <a:ext uri="{FF2B5EF4-FFF2-40B4-BE49-F238E27FC236}">
                <a16:creationId xmlns:a16="http://schemas.microsoft.com/office/drawing/2014/main" id="{47BD0B3E-DBE9-4D6D-89E9-CE4EF342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93370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Вопросы для разбора</a:t>
            </a:r>
          </a:p>
        </p:txBody>
      </p:sp>
      <p:sp>
        <p:nvSpPr>
          <p:cNvPr id="8" name="questions-list">
            <a:extLst xmlns:a="http://schemas.openxmlformats.org/drawingml/2006/main">
              <a:ext uri="{FF2B5EF4-FFF2-40B4-BE49-F238E27FC236}">
                <a16:creationId xmlns:a16="http://schemas.microsoft.com/office/drawing/2014/main" id="{47CC11ED-0948-4F95-9E46-F106C727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24250"/>
            <a:ext cx="4953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- Почему H2 не заменяет PostgreSQL?
- Где поставить barrier?
- Как избежать ложноположительного теста?</a:t>
            </a:r>
          </a:p>
        </p:txBody>
      </p:sp>
      <p:sp>
        <p:nvSpPr>
          <p:cNvPr id="9" name="review-close">
            <a:extLst xmlns:a="http://schemas.openxmlformats.org/drawingml/2006/main">
              <a:ext uri="{FF2B5EF4-FFF2-40B4-BE49-F238E27FC236}">
                <a16:creationId xmlns:a16="http://schemas.microsoft.com/office/drawing/2014/main" id="{2436440B-68F4-4DEB-9BD2-0157084E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905500"/>
            <a:ext cx="10668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Следующий шаг: сохранить гарантии при timeout, cancellation и внешнем I/O.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4D0DB-1163-4B96-B066-F63806D1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036860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2026-07-22T07:24:14.6330000Z</dcterms:created>
  <dcterms:modified xsi:type="dcterms:W3CDTF">2026-07-22T07:24:14.6330000Z</dcterms:modified>
</coreProperties>
</file>