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45e062ee541bf" /><Relationship Type="http://schemas.openxmlformats.org/officeDocument/2006/relationships/extended-properties" Target="/docProps/app.xml" Id="R9254cb98e6084201" /><Relationship Type="http://schemas.openxmlformats.org/officeDocument/2006/relationships/officeDocument" Target="/ppt/presentation.xml" Id="R336275af252542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d897e3f27144ab"/>
  </p:sldMasterIdLst>
  <p:notesMasterIdLst>
    <p:notesMasterId xmlns:r="http://schemas.openxmlformats.org/officeDocument/2006/relationships" r:id="R000025fa0b2f4f00"/>
  </p:notesMasterIdLst>
  <p:sldIdLst>
    <p:sldId xmlns:r="http://schemas.openxmlformats.org/officeDocument/2006/relationships" id="256" r:id="Rff80959335e247cd"/>
    <p:sldId xmlns:r="http://schemas.openxmlformats.org/officeDocument/2006/relationships" id="257" r:id="R2a68db5d112d45e4"/>
    <p:sldId xmlns:r="http://schemas.openxmlformats.org/officeDocument/2006/relationships" id="258" r:id="R4f6affee7c6e4491"/>
    <p:sldId xmlns:r="http://schemas.openxmlformats.org/officeDocument/2006/relationships" id="259" r:id="R6b5b50a706ff45b3"/>
    <p:sldId xmlns:r="http://schemas.openxmlformats.org/officeDocument/2006/relationships" id="260" r:id="R1ccb290f213a42b6"/>
    <p:sldId xmlns:r="http://schemas.openxmlformats.org/officeDocument/2006/relationships" id="261" r:id="R9e462c35048a45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616cdc94d542ba" /><Relationship Type="http://schemas.openxmlformats.org/officeDocument/2006/relationships/slideMaster" Target="/ppt/slideMasters/slideMaster1.xml" Id="R25d897e3f27144ab" /><Relationship Type="http://schemas.openxmlformats.org/officeDocument/2006/relationships/notesMaster" Target="/ppt/notesMasters/notesMaster1.xml" Id="R000025fa0b2f4f00" /><Relationship Type="http://schemas.openxmlformats.org/officeDocument/2006/relationships/presProps" Target="/ppt/presProps.xml" Id="R125b50ee3e97425d" /><Relationship Type="http://schemas.openxmlformats.org/officeDocument/2006/relationships/tableStyles" Target="/ppt/tableStyles.xml" Id="Reb79858b8e3443c6" /><Relationship Type="http://schemas.openxmlformats.org/officeDocument/2006/relationships/slide" Target="/ppt/slides/slide1.xml" Id="Rff80959335e247cd" /><Relationship Type="http://schemas.openxmlformats.org/officeDocument/2006/relationships/slide" Target="/ppt/slides/slide2.xml" Id="R2a68db5d112d45e4" /><Relationship Type="http://schemas.openxmlformats.org/officeDocument/2006/relationships/slide" Target="/ppt/slides/slide3.xml" Id="R4f6affee7c6e4491" /><Relationship Type="http://schemas.openxmlformats.org/officeDocument/2006/relationships/slide" Target="/ppt/slides/slide4.xml" Id="R6b5b50a706ff45b3" /><Relationship Type="http://schemas.openxmlformats.org/officeDocument/2006/relationships/slide" Target="/ppt/slides/slide5.xml" Id="R1ccb290f213a42b6" /><Relationship Type="http://schemas.openxmlformats.org/officeDocument/2006/relationships/slide" Target="/ppt/slides/slide6.xml" Id="R9e462c35048a45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2be821d6744d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e0611279654600" /><Relationship Type="http://schemas.openxmlformats.org/officeDocument/2006/relationships/notesMaster" Target="/ppt/notesMasters/notesMaster1.xml" Id="R60bbf8dc6c664c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c5c08dfdc940ea" /><Relationship Type="http://schemas.openxmlformats.org/officeDocument/2006/relationships/notesMaster" Target="/ppt/notesMasters/notesMaster1.xml" Id="Rc1a58c54342a4e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26a730d64840f2" /><Relationship Type="http://schemas.openxmlformats.org/officeDocument/2006/relationships/notesMaster" Target="/ppt/notesMasters/notesMaster1.xml" Id="Rd5160b2728b6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849909ed344b4" /><Relationship Type="http://schemas.openxmlformats.org/officeDocument/2006/relationships/notesMaster" Target="/ppt/notesMasters/notesMaster1.xml" Id="R1d49b7a24c8c4d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08351e43c94b02" /><Relationship Type="http://schemas.openxmlformats.org/officeDocument/2006/relationships/notesMaster" Target="/ppt/notesMasters/notesMaster1.xml" Id="R4fea27791fc54c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5de748f84e4525" /><Relationship Type="http://schemas.openxmlformats.org/officeDocument/2006/relationships/notesMaster" Target="/ppt/notesMasters/notesMaster1.xml" Id="Rbb132bca228841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local examples: test/course-catalog-service-9, test/course-catalog-service-10, test/course-catalog-service-11.</a:t>
            </a:r>
          </a:p>
          <a:p xmlns:a="http://schemas.openxmlformats.org/drawingml/2006/main">
            <a:r>
              <a:t>- Implemented lesson: Weak10 source code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local examples: test/course-catalog-service-9, test/course-catalog-service-10, test/course-catalog-service-11.</a:t>
            </a:r>
          </a:p>
          <a:p xmlns:a="http://schemas.openxmlformats.org/drawingml/2006/main">
            <a:r>
              <a:t>- Implemented lesson: Weak10 source code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local examples: test/course-catalog-service-9, test/course-catalog-service-10, test/course-catalog-service-11.</a:t>
            </a:r>
          </a:p>
          <a:p xmlns:a="http://schemas.openxmlformats.org/drawingml/2006/main">
            <a:r>
              <a:t>- Implemented lesson: Weak10 source code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local examples: test/course-catalog-service-9, test/course-catalog-service-10, test/course-catalog-service-11.</a:t>
            </a:r>
          </a:p>
          <a:p xmlns:a="http://schemas.openxmlformats.org/drawingml/2006/main">
            <a:r>
              <a:t>- Implemented lesson: Weak10 source code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local examples: test/course-catalog-service-9, test/course-catalog-service-10, test/course-catalog-service-11.</a:t>
            </a:r>
          </a:p>
          <a:p xmlns:a="http://schemas.openxmlformats.org/drawingml/2006/main">
            <a:r>
              <a:t>- Implemented lesson: Weak10 source code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local examples: test/course-catalog-service-9, test/course-catalog-service-10, test/course-catalog-service-11.</a:t>
            </a:r>
          </a:p>
          <a:p xmlns:a="http://schemas.openxmlformats.org/drawingml/2006/main">
            <a:r>
              <a:t>- Implemented lesson: Weak10 source code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4127d5ff249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5d93eebb954ae2" /><Relationship Type="http://schemas.openxmlformats.org/officeDocument/2006/relationships/slideLayout" Target="/ppt/slideLayouts/slideLayout1.xml" Id="R7487a02bef7147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87a02bef7147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61ac436644383" /><Relationship Type="http://schemas.openxmlformats.org/officeDocument/2006/relationships/notesSlide" Target="/ppt/notesSlides/notesSlide1.xml" Id="Rbe005606f47f4d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ce19d9bd34b15" /><Relationship Type="http://schemas.openxmlformats.org/officeDocument/2006/relationships/notesSlide" Target="/ppt/notesSlides/notesSlide2.xml" Id="R2669dd7c6daa46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859659a284cd4" /><Relationship Type="http://schemas.openxmlformats.org/officeDocument/2006/relationships/notesSlide" Target="/ppt/notesSlides/notesSlide3.xml" Id="R2cb9caa04f6242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65c111afa4532" /><Relationship Type="http://schemas.openxmlformats.org/officeDocument/2006/relationships/notesSlide" Target="/ppt/notesSlides/notesSlide4.xml" Id="Rb04a0af5a44d4c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e09fc1487483b" /><Relationship Type="http://schemas.openxmlformats.org/officeDocument/2006/relationships/notesSlide" Target="/ppt/notesSlides/notesSlide5.xml" Id="R3bf18514db7a4d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b182181b04210" /><Relationship Type="http://schemas.openxmlformats.org/officeDocument/2006/relationships/notesSlide" Target="/ppt/notesSlides/notesSlide6.xml" Id="R63c6d2bbeaaf45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F36B603D-2497-4B63-B5A9-75660167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10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89A126C1-AC85-46C8-8036-9EEFD38B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5B6A537-6140-423A-AFA6-27056C86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B0DDE9B-3E37-4D29-9A05-47335AFE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Course Catalog: JPA и validation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971D7D34-CCFC-4527-B8E1-20A36DD7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Собрать вертикальный срез: DTO, service rule, JPA-связь, внешний ключ и стабильный HTTP-контракт.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8879F2CA-00DB-46BC-B41B-CEA3E6C9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 мотивам course-catalog-service-9…11</a:t>
            </a:r>
          </a:p>
        </p:txBody>
      </p:sp>
    </p:spTree>
    <p:extLst>
      <p:ext uri="{BB962C8B-B14F-4D97-AF65-F5344CB8AC3E}">
        <p14:creationId xmlns:p14="http://schemas.microsoft.com/office/powerpoint/2010/main" val="1881009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818A4CF2-C4A9-499E-8F13-2B645B38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границы защищают один инвариант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614970C9-A74C-4FD0-BA6E-5339BB7B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Курс существует только с валидными полями и реальным преподавателем.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84D7B112-0C5C-4253-95F8-A72B852F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B21B0A8E-C177-4A5A-831A-9DBFFB1B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DTO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43BE6D70-2B6D-4374-8745-E0A7DE1F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@Valid проверяет форму JSON: непустые name/category и положительный instructorId.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D97AEFE0-161A-4517-8BC8-CE7E2AEA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E4265D5F-CBF8-42F6-9300-F09AA18A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Service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5AE28260-FC1D-4741-83D6-339E67D2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Бизнес-правило требует существующего Instructor до сохранения Course.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A9666DA9-5976-4DDB-8F6C-D3D9DDC0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8E79AA79-8F69-4A60-BF47-A711835A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C6DC01DC-5BAC-449E-97BF-978944AA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NOT NULL, CHECK и FOREIGN KEY защищают данные при любом пути записи.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E3F2F-A65C-4227-AC12-F441EF02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4754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0A714855-42EE-4B46-949C-2C5B9EB0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Связь надёжна, когда границы разделены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E531D68E-B0CA-4196-B816-84E4C698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B6F13A60-4AC4-434E-99DC-523651B7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DTO ≠ entity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0B616707-E81C-462B-A5A4-B2C7ECDC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Request/response не зависят от proxy, lazy loading и структуры таблиц.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4D3E6466-C439-4B5E-9488-C4F1C45B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E30EF884-7EF8-405C-B1C6-4F8BA20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Owning side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5B5689CF-8C1B-4C67-A855-053139B5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Course.instructor хранит instructor_id; mappedBy описывает обратную сторону.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2E1C707C-5637-47C7-8964-52DB5EEA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77922EBE-E737-4C27-92FF-7815B1E6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Validation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EC39AE97-FC59-4C29-B0D3-F0706B5B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@Valid проверяет DTO, service — существование Instructor, FK — целостность.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DBBB5BC1-64B1-48E3-B996-43C31A40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2731E245-7367-4E5E-95FA-ADE4DC82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Error contract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09CC2D13-5C5D-4B4A-9575-A626BEE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status + code + details + requestId стабильнее сырого текста exception.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E6513-7205-4E7B-9A62-A2D1D1B7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8326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00701DE8-82E4-4198-A986-A8A2F10D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Один POST проходит все уровни защиты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F396196D-F8B2-4484-987F-2C3A7136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Каждый следующий слой проверяет то, чего не может доказать предыдущий.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902C79EE-75AB-49AA-98B8-30F4F4E8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0F9230A3-90F6-4840-A220-C9830E75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0B8C3EA5-24ED-47D3-855C-85998D33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VALIDATE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88D892A3-0AF3-4242-899E-50FD840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DTO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95C0261B-BEE1-42CB-B7E0-E077F6A5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Controller активирует @Valid и отклоняет пустые поля до service.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ED9D522C-9C7E-4788-AE09-11D370C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848EFB0D-8FE4-4892-A651-E3AC0D26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RESOLVE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8C1CCB3C-333B-41D5-99E2-007A8059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Найти Instructor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6FC5CF49-06E9-4A77-8AEB-BAAFB5C1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Service загружает преподавателя или возвращает INSTRUCTOR_NOT_FOUND.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7F390D65-5A9C-440C-B1DA-1D3F7139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C7863C8A-F9C2-4870-A03B-2758A9C1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PERSIST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8B343B2E-3B24-418B-BB90-B2DA646C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Сохранить Course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F075E89E-40B7-4675-9E8D-BD6CFDEF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JPA записывает owning side; PostgreSQL проверяет FK и constraints.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09468-D4D2-4EC2-BEAB-F7EB58C1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0119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B93391C4-06F8-4E0C-B501-BC693132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доказывает полный вертикальный срез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32FEF55C-1D06-4194-BFAA-2B3D6C1F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5A4493EC-2B33-40CE-AED8-A8090B8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./gradlew test   # Spring MVC + JPA + Flyway + PostgreSQL 17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7097D9DE-D190-4AF7-84ED-6C2953F9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F341BFA2-9906-43A2-9005-CC19663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Позитивный путь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FE01C668-47F3-4BE7-A349-720E126E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Создать Instructor.
- Создать Course со связью.
- Найти course_name=spring.
- Обновить и удалить курс.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9918B0BF-049E-45DF-9B03-A872F283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17B87CD2-F598-4488-AF50-F245E4C3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Негативные сценарии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39F5E18D-9EB5-4B27-AD08-513F8E28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Пустые поля → 400.
- Неизвестный Instructor → 404.
- Course не создаётся после ошибки.
- Тест идёт на PostgreSQL 17.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0E172-0B4A-4DF8-9851-BE4EEE14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092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A2C1E48A-DD52-43B9-B0F4-887B0E8F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78B36218-59B7-4188-90B9-0113FCB9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границы можно объяснить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F9874DF6-D396-4479-9F2A-42990334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1D1BA46B-E356-411D-A2A4-1185B1AD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186649A4-D1CA-46DD-97CA-EA58A141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Entity не выходит в API.
- Flyway владеет схемой.
- Positive/negative tests зелёные.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8B408F44-20AC-43BA-A39F-A95A070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47BD0B3E-DBE9-4D6D-89E9-CE4EF342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47CC11ED-0948-4F95-9E46-F106C727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Кто владеет JPA-связью?
- Зачем service check и FK?
- Как @EntityGraph лечит N+1?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2436440B-68F4-4DEB-9BD2-0157084E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GET by id, pagination и optimistic locking.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4D0DB-1163-4B96-B066-F63806D1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3686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2026-08-23T00:28:19.5500000Z</dcterms:created>
  <dcterms:modified xsi:type="dcterms:W3CDTF">2026-08-23T00:28:19.5500000Z</dcterms:modified>
</coreProperties>
</file>