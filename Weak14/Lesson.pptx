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f6f5f2eea5427c" /><Relationship Type="http://schemas.openxmlformats.org/officeDocument/2006/relationships/extended-properties" Target="/docProps/app.xml" Id="R81cd2b5d61ef4cbd" /><Relationship Type="http://schemas.openxmlformats.org/officeDocument/2006/relationships/officeDocument" Target="/ppt/presentation.xml" Id="Re9e93b847d294d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a500fd83354577"/>
  </p:sldMasterIdLst>
  <p:notesMasterIdLst>
    <p:notesMasterId xmlns:r="http://schemas.openxmlformats.org/officeDocument/2006/relationships" r:id="R0204e2f040314985"/>
  </p:notesMasterIdLst>
  <p:sldIdLst>
    <p:sldId xmlns:r="http://schemas.openxmlformats.org/officeDocument/2006/relationships" id="256" r:id="R7593c40b9d174f44"/>
    <p:sldId xmlns:r="http://schemas.openxmlformats.org/officeDocument/2006/relationships" id="257" r:id="R8b20fff291984ca0"/>
    <p:sldId xmlns:r="http://schemas.openxmlformats.org/officeDocument/2006/relationships" id="258" r:id="R8875f33644dc4acc"/>
    <p:sldId xmlns:r="http://schemas.openxmlformats.org/officeDocument/2006/relationships" id="259" r:id="R497e8eeac04142f6"/>
    <p:sldId xmlns:r="http://schemas.openxmlformats.org/officeDocument/2006/relationships" id="260" r:id="R91bc3a730dd04f81"/>
    <p:sldId xmlns:r="http://schemas.openxmlformats.org/officeDocument/2006/relationships" id="261" r:id="R7138961aefcb4f7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6e7bab63ab49a8" /><Relationship Type="http://schemas.openxmlformats.org/officeDocument/2006/relationships/slideMaster" Target="/ppt/slideMasters/slideMaster1.xml" Id="R64a500fd83354577" /><Relationship Type="http://schemas.openxmlformats.org/officeDocument/2006/relationships/notesMaster" Target="/ppt/notesMasters/notesMaster1.xml" Id="R0204e2f040314985" /><Relationship Type="http://schemas.openxmlformats.org/officeDocument/2006/relationships/presProps" Target="/ppt/presProps.xml" Id="R4dd85c822e4948ff" /><Relationship Type="http://schemas.openxmlformats.org/officeDocument/2006/relationships/tableStyles" Target="/ppt/tableStyles.xml" Id="R87c646cf3a2548b2" /><Relationship Type="http://schemas.openxmlformats.org/officeDocument/2006/relationships/slide" Target="/ppt/slides/slide1.xml" Id="R7593c40b9d174f44" /><Relationship Type="http://schemas.openxmlformats.org/officeDocument/2006/relationships/slide" Target="/ppt/slides/slide2.xml" Id="R8b20fff291984ca0" /><Relationship Type="http://schemas.openxmlformats.org/officeDocument/2006/relationships/slide" Target="/ppt/slides/slide3.xml" Id="R8875f33644dc4acc" /><Relationship Type="http://schemas.openxmlformats.org/officeDocument/2006/relationships/slide" Target="/ppt/slides/slide4.xml" Id="R497e8eeac04142f6" /><Relationship Type="http://schemas.openxmlformats.org/officeDocument/2006/relationships/slide" Target="/ppt/slides/slide5.xml" Id="R91bc3a730dd04f81" /><Relationship Type="http://schemas.openxmlformats.org/officeDocument/2006/relationships/slide" Target="/ppt/slides/slide6.xml" Id="R7138961aefcb4f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56c0f72bfd42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8b1762c94840f6" /><Relationship Type="http://schemas.openxmlformats.org/officeDocument/2006/relationships/notesMaster" Target="/ppt/notesMasters/notesMaster1.xml" Id="Rbb62f65128784d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810170e6784e88" /><Relationship Type="http://schemas.openxmlformats.org/officeDocument/2006/relationships/notesMaster" Target="/ppt/notesMasters/notesMaster1.xml" Id="Refc251b4be8646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811d15dd594c33" /><Relationship Type="http://schemas.openxmlformats.org/officeDocument/2006/relationships/notesMaster" Target="/ppt/notesMasters/notesMaster1.xml" Id="R11ecd0ea1da343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2f39d107e34ee1" /><Relationship Type="http://schemas.openxmlformats.org/officeDocument/2006/relationships/notesMaster" Target="/ppt/notesMasters/notesMaster1.xml" Id="R0d0a587891a942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b7e958b5d149e1" /><Relationship Type="http://schemas.openxmlformats.org/officeDocument/2006/relationships/notesMaster" Target="/ppt/notesMasters/notesMaster1.xml" Id="R8ae98107c62346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353a4d0be841be" /><Relationship Type="http://schemas.openxmlformats.org/officeDocument/2006/relationships/notesMaster" Target="/ppt/notesMasters/notesMaster1.xml" Id="R49f16e640bd540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6c7cf34c2941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95e0adb3654d9d" /><Relationship Type="http://schemas.openxmlformats.org/officeDocument/2006/relationships/slideLayout" Target="/ppt/slideLayouts/slideLayout1.xml" Id="Rc86d017bc4e243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6d017bc4e243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915c054aee4117" /><Relationship Type="http://schemas.openxmlformats.org/officeDocument/2006/relationships/notesSlide" Target="/ppt/notesSlides/notesSlide1.xml" Id="R01f01000fcbb44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28348aa7f24f99" /><Relationship Type="http://schemas.openxmlformats.org/officeDocument/2006/relationships/notesSlide" Target="/ppt/notesSlides/notesSlide2.xml" Id="Rd5564fced54448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cdf8f064234de8" /><Relationship Type="http://schemas.openxmlformats.org/officeDocument/2006/relationships/notesSlide" Target="/ppt/notesSlides/notesSlide3.xml" Id="R5687de6cb61b462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6677e99e064c29" /><Relationship Type="http://schemas.openxmlformats.org/officeDocument/2006/relationships/notesSlide" Target="/ppt/notesSlides/notesSlide4.xml" Id="Rc78c037d92d445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be0fc24e6e482d" /><Relationship Type="http://schemas.openxmlformats.org/officeDocument/2006/relationships/notesSlide" Target="/ppt/notesSlides/notesSlide5.xml" Id="R404b9632039942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2c798f803a41da" /><Relationship Type="http://schemas.openxmlformats.org/officeDocument/2006/relationships/notesSlide" Target="/ppt/notesSlides/notesSlide6.xml" Id="R73b473fe58e74e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week-label">
            <a:extLst xmlns:a="http://schemas.openxmlformats.org/drawingml/2006/main">
              <a:ext uri="{FF2B5EF4-FFF2-40B4-BE49-F238E27FC236}">
                <a16:creationId xmlns:a16="http://schemas.microsoft.com/office/drawing/2014/main" id="{40ACD0DB-B186-4593-B19B-089123E7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2857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НЕДЕЛЯ 14</a:t>
            </a:r>
          </a:p>
        </p:txBody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7A1B4FE0-2D6C-4895-8C5B-DBD298DB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0525"/>
            <a:ext cx="32194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KOTLIN BACKEND</a:t>
            </a:r>
          </a:p>
        </p:txBody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5B63194E-8FD6-459B-AFC1-2F73F673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38275"/>
            <a:ext cx="161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4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827CDD11-83F8-47B3-9093-0C4C6276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90700"/>
            <a:ext cx="106680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Ktor как явный серверный стек</a:t>
            </a:r>
          </a:p>
        </p:txBody>
      </p:sp>
      <p:sp>
        <p:nvSpPr>
          <p:cNvPr id="5" name="lesson-outcome">
            <a:extLst xmlns:a="http://schemas.openxmlformats.org/drawingml/2006/main">
              <a:ext uri="{FF2B5EF4-FFF2-40B4-BE49-F238E27FC236}">
                <a16:creationId xmlns:a16="http://schemas.microsoft.com/office/drawing/2014/main" id="{E32FBD30-F947-487A-903B-C12CD56BE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29150"/>
            <a:ext cx="102870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Реализовать тот же API в Ktor и отделить знания backend от возможностей фреймворка.</a:t>
            </a:r>
          </a:p>
        </p:txBody>
      </p:sp>
      <p:sp>
        <p:nvSpPr>
          <p:cNvPr id="6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3A1B9A0A-8DF4-4FEA-A820-B28D5522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29350"/>
            <a:ext cx="590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Материал урока и лабораторная работа</a:t>
            </a:r>
          </a:p>
        </p:txBody>
      </p:sp>
    </p:spTree>
    <p:extLst>
      <p:ext uri="{BB962C8B-B14F-4D97-AF65-F5344CB8AC3E}">
        <p14:creationId xmlns:p14="http://schemas.microsoft.com/office/powerpoint/2010/main" val="6741846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map-title">
            <a:extLst xmlns:a="http://schemas.openxmlformats.org/drawingml/2006/main">
              <a:ext uri="{FF2B5EF4-FFF2-40B4-BE49-F238E27FC236}">
                <a16:creationId xmlns:a16="http://schemas.microsoft.com/office/drawing/2014/main" id="{A89DBF95-E7E9-4C49-896C-FE6164F6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Три опоры урока</a:t>
            </a:r>
          </a:p>
        </p:txBody>
      </p:sp>
      <p:sp>
        <p:nvSpPr>
          <p:cNvPr id="2" name="map-lead">
            <a:extLst xmlns:a="http://schemas.openxmlformats.org/drawingml/2006/main">
              <a:ext uri="{FF2B5EF4-FFF2-40B4-BE49-F238E27FC236}">
                <a16:creationId xmlns:a16="http://schemas.microsoft.com/office/drawing/2014/main" id="{F73074E0-05E2-40FF-B42B-4D5B0E01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Routing и plugins меняют wiring, но HTTP-контракт, security, SQL и transactions остаются прежними.</a:t>
            </a:r>
          </a:p>
        </p:txBody>
      </p:sp>
      <p:sp>
        <p:nvSpPr>
          <p:cNvPr id="3" name="pillar-panel-1">
            <a:extLst xmlns:a="http://schemas.openxmlformats.org/drawingml/2006/main">
              <a:ext uri="{FF2B5EF4-FFF2-40B4-BE49-F238E27FC236}">
                <a16:creationId xmlns:a16="http://schemas.microsoft.com/office/drawing/2014/main" id="{FCB8184B-7A3E-4B9B-9D91-B831F412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76450"/>
            <a:ext cx="3571875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4" name="pillar-title-1">
            <a:extLst xmlns:a="http://schemas.openxmlformats.org/drawingml/2006/main">
              <a:ext uri="{FF2B5EF4-FFF2-40B4-BE49-F238E27FC236}">
                <a16:creationId xmlns:a16="http://schemas.microsoft.com/office/drawing/2014/main" id="{170DE8CD-F60D-4D88-B53B-51D5D6B3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19350"/>
            <a:ext cx="3028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Explicit wiring</a:t>
            </a:r>
          </a:p>
        </p:txBody>
      </p:sp>
      <p:sp>
        <p:nvSpPr>
          <p:cNvPr id="5" name="pillar-body-1">
            <a:extLst xmlns:a="http://schemas.openxmlformats.org/drawingml/2006/main">
              <a:ext uri="{FF2B5EF4-FFF2-40B4-BE49-F238E27FC236}">
                <a16:creationId xmlns:a16="http://schemas.microsoft.com/office/drawing/2014/main" id="{9FF556B2-6CE8-4519-B6CF-5F549428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62300"/>
            <a:ext cx="3028950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Routing, plugins, serialization и StatusPages подключаются явно и читаются в startup flow.</a:t>
            </a:r>
          </a:p>
        </p:txBody>
      </p:sp>
      <p:sp>
        <p:nvSpPr>
          <p:cNvPr id="6" name="pillar-panel-2">
            <a:extLst xmlns:a="http://schemas.openxmlformats.org/drawingml/2006/main">
              <a:ext uri="{FF2B5EF4-FFF2-40B4-BE49-F238E27FC236}">
                <a16:creationId xmlns:a16="http://schemas.microsoft.com/office/drawing/2014/main" id="{91A3CC25-97D3-491E-A71F-74760DAC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76450"/>
            <a:ext cx="3571875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7" name="pillar-title-2">
            <a:extLst xmlns:a="http://schemas.openxmlformats.org/drawingml/2006/main">
              <a:ext uri="{FF2B5EF4-FFF2-40B4-BE49-F238E27FC236}">
                <a16:creationId xmlns:a16="http://schemas.microsoft.com/office/drawing/2014/main" id="{9C5F2E54-B402-419E-8671-D62C6DA7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419350"/>
            <a:ext cx="3028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Testing</a:t>
            </a:r>
          </a:p>
        </p:txBody>
      </p:sp>
      <p:sp>
        <p:nvSpPr>
          <p:cNvPr id="8" name="pillar-body-2">
            <a:extLst xmlns:a="http://schemas.openxmlformats.org/drawingml/2006/main">
              <a:ext uri="{FF2B5EF4-FFF2-40B4-BE49-F238E27FC236}">
                <a16:creationId xmlns:a16="http://schemas.microsoft.com/office/drawing/2014/main" id="{F52B2DCD-F7C2-4CC3-BACE-18FC6AC5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162300"/>
            <a:ext cx="3028950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testApplication запускает pipeline без реального порта и проверяет контракт Ktor.</a:t>
            </a:r>
          </a:p>
        </p:txBody>
      </p:sp>
      <p:sp>
        <p:nvSpPr>
          <p:cNvPr id="9" name="pillar-panel-3">
            <a:extLst xmlns:a="http://schemas.openxmlformats.org/drawingml/2006/main">
              <a:ext uri="{FF2B5EF4-FFF2-40B4-BE49-F238E27FC236}">
                <a16:creationId xmlns:a16="http://schemas.microsoft.com/office/drawing/2014/main" id="{F0554055-86D5-4381-A4CD-F13DE1A1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76450"/>
            <a:ext cx="3571875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10" name="pillar-title-3">
            <a:extLst xmlns:a="http://schemas.openxmlformats.org/drawingml/2006/main">
              <a:ext uri="{FF2B5EF4-FFF2-40B4-BE49-F238E27FC236}">
                <a16:creationId xmlns:a16="http://schemas.microsoft.com/office/drawing/2014/main" id="{6C806B10-60B4-4DE9-A899-58D08ED5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19350"/>
            <a:ext cx="3028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Transferable core</a:t>
            </a:r>
          </a:p>
        </p:txBody>
      </p:sp>
      <p:sp>
        <p:nvSpPr>
          <p:cNvPr id="11" name="pillar-body-3">
            <a:extLst xmlns:a="http://schemas.openxmlformats.org/drawingml/2006/main">
              <a:ext uri="{FF2B5EF4-FFF2-40B4-BE49-F238E27FC236}">
                <a16:creationId xmlns:a16="http://schemas.microsoft.com/office/drawing/2014/main" id="{3667CD2E-0E1D-493C-88F7-B47E7319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62300"/>
            <a:ext cx="3028950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DTO, auth, error mapping, transaction boundary и PostgreSQL guarantees не зависят от Spring.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A73636-1FC1-4CBE-BA3B-484D132E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349092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oncepts-title">
            <a:extLst xmlns:a="http://schemas.openxmlformats.org/drawingml/2006/main">
              <a:ext uri="{FF2B5EF4-FFF2-40B4-BE49-F238E27FC236}">
                <a16:creationId xmlns:a16="http://schemas.microsoft.com/office/drawing/2014/main" id="{654D1407-A63B-47C8-91F5-2EEA33C0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Framework меняет механизмы, но не ответственность слоёв</a:t>
            </a:r>
          </a:p>
        </p:txBody>
      </p:sp>
      <p:sp>
        <p:nvSpPr>
          <p:cNvPr id="2" name="concept-panel-1">
            <a:extLst xmlns:a="http://schemas.openxmlformats.org/drawingml/2006/main">
              <a:ext uri="{FF2B5EF4-FFF2-40B4-BE49-F238E27FC236}">
                <a16:creationId xmlns:a16="http://schemas.microsoft.com/office/drawing/2014/main" id="{2DD18089-D708-4FD3-A9F0-4C38AF7E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28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3" name="concept-title-1">
            <a:extLst xmlns:a="http://schemas.openxmlformats.org/drawingml/2006/main">
              <a:ext uri="{FF2B5EF4-FFF2-40B4-BE49-F238E27FC236}">
                <a16:creationId xmlns:a16="http://schemas.microsoft.com/office/drawing/2014/main" id="{E5A6B727-7AC6-4E03-819C-18CEA7E5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57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Routing</a:t>
            </a:r>
          </a:p>
        </p:txBody>
      </p:sp>
      <p:sp>
        <p:nvSpPr>
          <p:cNvPr id="4" name="concept-body-1">
            <a:extLst xmlns:a="http://schemas.openxmlformats.org/drawingml/2006/main">
              <a:ext uri="{FF2B5EF4-FFF2-40B4-BE49-F238E27FC236}">
                <a16:creationId xmlns:a16="http://schemas.microsoft.com/office/drawing/2014/main" id="{D2E4D880-5A21-45E5-99C1-ACAFF3A5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71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Route выбирает handler по method/path; обработчик преобразует request и вызывает use case.</a:t>
            </a:r>
          </a:p>
        </p:txBody>
      </p:sp>
      <p:sp>
        <p:nvSpPr>
          <p:cNvPr id="5" name="concept-panel-2">
            <a:extLst xmlns:a="http://schemas.openxmlformats.org/drawingml/2006/main">
              <a:ext uri="{FF2B5EF4-FFF2-40B4-BE49-F238E27FC236}">
                <a16:creationId xmlns:a16="http://schemas.microsoft.com/office/drawing/2014/main" id="{016EA8D7-638E-4305-A9C9-4A697B4C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428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6" name="concept-title-2">
            <a:extLst xmlns:a="http://schemas.openxmlformats.org/drawingml/2006/main">
              <a:ext uri="{FF2B5EF4-FFF2-40B4-BE49-F238E27FC236}">
                <a16:creationId xmlns:a16="http://schemas.microsoft.com/office/drawing/2014/main" id="{191FA429-8098-4746-A9C4-9984089B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657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Plugin</a:t>
            </a:r>
          </a:p>
        </p:txBody>
      </p:sp>
      <p:sp>
        <p:nvSpPr>
          <p:cNvPr id="7" name="concept-body-2">
            <a:extLst xmlns:a="http://schemas.openxmlformats.org/drawingml/2006/main">
              <a:ext uri="{FF2B5EF4-FFF2-40B4-BE49-F238E27FC236}">
                <a16:creationId xmlns:a16="http://schemas.microsoft.com/office/drawing/2014/main" id="{4AD6B9A9-843F-4B00-8AF5-2A3BF5C7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171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Serialization, authentication и errors образуют pipeline вместо набора Spring filters/advice.</a:t>
            </a:r>
          </a:p>
        </p:txBody>
      </p:sp>
      <p:sp>
        <p:nvSpPr>
          <p:cNvPr id="8" name="concept-panel-3">
            <a:extLst xmlns:a="http://schemas.openxmlformats.org/drawingml/2006/main">
              <a:ext uri="{FF2B5EF4-FFF2-40B4-BE49-F238E27FC236}">
                <a16:creationId xmlns:a16="http://schemas.microsoft.com/office/drawing/2014/main" id="{6D56F4B8-61B2-4483-A825-988580CF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14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9" name="concept-title-3">
            <a:extLst xmlns:a="http://schemas.openxmlformats.org/drawingml/2006/main">
              <a:ext uri="{FF2B5EF4-FFF2-40B4-BE49-F238E27FC236}">
                <a16:creationId xmlns:a16="http://schemas.microsoft.com/office/drawing/2014/main" id="{DAF18D1A-3712-45A1-814A-BBA2F00A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43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StatusPages</a:t>
            </a:r>
          </a:p>
        </p:txBody>
      </p:sp>
      <p:sp>
        <p:nvSpPr>
          <p:cNvPr id="10" name="concept-body-3">
            <a:extLst xmlns:a="http://schemas.openxmlformats.org/drawingml/2006/main">
              <a:ext uri="{FF2B5EF4-FFF2-40B4-BE49-F238E27FC236}">
                <a16:creationId xmlns:a16="http://schemas.microsoft.com/office/drawing/2014/main" id="{F9C6A369-A19C-491B-B4E6-6C001429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57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Исключения преобразуются в стабильный error contract на одной HTTP-границе.</a:t>
            </a:r>
          </a:p>
        </p:txBody>
      </p:sp>
      <p:sp>
        <p:nvSpPr>
          <p:cNvPr id="11" name="concept-panel-4">
            <a:extLst xmlns:a="http://schemas.openxmlformats.org/drawingml/2006/main">
              <a:ext uri="{FF2B5EF4-FFF2-40B4-BE49-F238E27FC236}">
                <a16:creationId xmlns:a16="http://schemas.microsoft.com/office/drawing/2014/main" id="{986D83AB-7B4A-4651-93C6-49FFD55F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14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12" name="concept-title-4">
            <a:extLst xmlns:a="http://schemas.openxmlformats.org/drawingml/2006/main">
              <a:ext uri="{FF2B5EF4-FFF2-40B4-BE49-F238E27FC236}">
                <a16:creationId xmlns:a16="http://schemas.microsoft.com/office/drawing/2014/main" id="{339CD114-E6EF-4992-BD0E-F3ED85D8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943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testApplication</a:t>
            </a:r>
          </a:p>
        </p:txBody>
      </p:sp>
      <p:sp>
        <p:nvSpPr>
          <p:cNvPr id="13" name="concept-body-4">
            <a:extLst xmlns:a="http://schemas.openxmlformats.org/drawingml/2006/main">
              <a:ext uri="{FF2B5EF4-FFF2-40B4-BE49-F238E27FC236}">
                <a16:creationId xmlns:a16="http://schemas.microsoft.com/office/drawing/2014/main" id="{77E86F42-3116-4694-8A79-A43E3696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457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Проверяет routing/plugins/auth детерминированно и быстрее полноценного network E2E.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948A2E-587E-467B-AD0B-1C9B7985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924821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flow-title">
            <a:extLst xmlns:a="http://schemas.openxmlformats.org/drawingml/2006/main">
              <a:ext uri="{FF2B5EF4-FFF2-40B4-BE49-F238E27FC236}">
                <a16:creationId xmlns:a16="http://schemas.microsoft.com/office/drawing/2014/main" id="{9055ADDE-2612-411A-B44B-99AD0A9A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Ktor pipeline делает execution flow явным</a:t>
            </a:r>
          </a:p>
        </p:txBody>
      </p:sp>
      <p:sp>
        <p:nvSpPr>
          <p:cNvPr id="2" name="flow-lead">
            <a:extLst xmlns:a="http://schemas.openxmlformats.org/drawingml/2006/main">
              <a:ext uri="{FF2B5EF4-FFF2-40B4-BE49-F238E27FC236}">
                <a16:creationId xmlns:a16="http://schemas.microsoft.com/office/drawing/2014/main" id="{A701A902-866C-4067-9B97-DBBC5534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6680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Сравнение со Spring полезно по прозрачности и стоимости wiring, а не по лозунгу о лучшем framework.</a:t>
            </a:r>
          </a:p>
        </p:txBody>
      </p:sp>
      <p:sp>
        <p:nvSpPr>
          <p:cNvPr id="3" name="flow-axis">
            <a:extLst xmlns:a="http://schemas.openxmlformats.org/drawingml/2006/main">
              <a:ext uri="{FF2B5EF4-FFF2-40B4-BE49-F238E27FC236}">
                <a16:creationId xmlns:a16="http://schemas.microsoft.com/office/drawing/2014/main" id="{CFEB3D04-F9B4-42AC-B00A-0FAD1FCC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24200"/>
            <a:ext cx="9848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4" name="flow-dot-1">
            <a:extLst xmlns:a="http://schemas.openxmlformats.org/drawingml/2006/main">
              <a:ext uri="{FF2B5EF4-FFF2-40B4-BE49-F238E27FC236}">
                <a16:creationId xmlns:a16="http://schemas.microsoft.com/office/drawing/2014/main" id="{0DE165E2-2BB1-48A5-AFF0-0092C4AD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flow-label-1">
            <a:extLst xmlns:a="http://schemas.openxmlformats.org/drawingml/2006/main">
              <a:ext uri="{FF2B5EF4-FFF2-40B4-BE49-F238E27FC236}">
                <a16:creationId xmlns:a16="http://schemas.microsoft.com/office/drawing/2014/main" id="{4DA4C3E6-815B-481F-A1BD-4F7733F1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01 / PLUGINS</a:t>
            </a:r>
          </a:p>
        </p:txBody>
      </p:sp>
      <p:sp>
        <p:nvSpPr>
          <p:cNvPr id="6" name="flow-step-title-1">
            <a:extLst xmlns:a="http://schemas.openxmlformats.org/drawingml/2006/main">
              <a:ext uri="{FF2B5EF4-FFF2-40B4-BE49-F238E27FC236}">
                <a16:creationId xmlns:a16="http://schemas.microsoft.com/office/drawing/2014/main" id="{F5FD93E2-7C51-470D-B129-4CC5829C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3028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Настроить pipeline</a:t>
            </a:r>
          </a:p>
        </p:txBody>
      </p:sp>
      <p:sp>
        <p:nvSpPr>
          <p:cNvPr id="7" name="flow-step-body-1">
            <a:extLst xmlns:a="http://schemas.openxmlformats.org/drawingml/2006/main">
              <a:ext uri="{FF2B5EF4-FFF2-40B4-BE49-F238E27FC236}">
                <a16:creationId xmlns:a16="http://schemas.microsoft.com/office/drawing/2014/main" id="{875942A6-FD51-497C-9929-21F198FB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30289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Serialization, auth и StatusPages подключаются при старте.</a:t>
            </a:r>
          </a:p>
        </p:txBody>
      </p:sp>
      <p:sp>
        <p:nvSpPr>
          <p:cNvPr id="8" name="flow-dot-2">
            <a:extLst xmlns:a="http://schemas.openxmlformats.org/drawingml/2006/main">
              <a:ext uri="{FF2B5EF4-FFF2-40B4-BE49-F238E27FC236}">
                <a16:creationId xmlns:a16="http://schemas.microsoft.com/office/drawing/2014/main" id="{909DE4CB-FA25-4C3E-9A06-82410A2F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67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9" name="flow-label-2">
            <a:extLst xmlns:a="http://schemas.openxmlformats.org/drawingml/2006/main">
              <a:ext uri="{FF2B5EF4-FFF2-40B4-BE49-F238E27FC236}">
                <a16:creationId xmlns:a16="http://schemas.microsoft.com/office/drawing/2014/main" id="{27715757-8C10-4A4E-8A44-B3C97F71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3840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02 / ROUTE</a:t>
            </a:r>
          </a:p>
        </p:txBody>
      </p:sp>
      <p:sp>
        <p:nvSpPr>
          <p:cNvPr id="10" name="flow-step-title-2">
            <a:extLst xmlns:a="http://schemas.openxmlformats.org/drawingml/2006/main">
              <a:ext uri="{FF2B5EF4-FFF2-40B4-BE49-F238E27FC236}">
                <a16:creationId xmlns:a16="http://schemas.microsoft.com/office/drawing/2014/main" id="{DBE6B174-DEB9-4500-927E-2D29197F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028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Обработать request</a:t>
            </a:r>
          </a:p>
        </p:txBody>
      </p:sp>
      <p:sp>
        <p:nvSpPr>
          <p:cNvPr id="11" name="flow-step-body-2">
            <a:extLst xmlns:a="http://schemas.openxmlformats.org/drawingml/2006/main">
              <a:ext uri="{FF2B5EF4-FFF2-40B4-BE49-F238E27FC236}">
                <a16:creationId xmlns:a16="http://schemas.microsoft.com/office/drawing/2014/main" id="{482E3ECF-9D00-439D-B39E-061D55D7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95750"/>
            <a:ext cx="30289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Routing получает principal/DTO и вызывает переносимый service.</a:t>
            </a:r>
          </a:p>
        </p:txBody>
      </p:sp>
      <p:sp>
        <p:nvSpPr>
          <p:cNvPr id="12" name="flow-dot-3">
            <a:extLst xmlns:a="http://schemas.openxmlformats.org/drawingml/2006/main">
              <a:ext uri="{FF2B5EF4-FFF2-40B4-BE49-F238E27FC236}">
                <a16:creationId xmlns:a16="http://schemas.microsoft.com/office/drawing/2014/main" id="{1C13772A-E22A-442F-BFAD-4077F4AB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67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3" name="flow-label-3">
            <a:extLst xmlns:a="http://schemas.openxmlformats.org/drawingml/2006/main">
              <a:ext uri="{FF2B5EF4-FFF2-40B4-BE49-F238E27FC236}">
                <a16:creationId xmlns:a16="http://schemas.microsoft.com/office/drawing/2014/main" id="{2E21B47F-046E-4137-81C6-0B92301A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3840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03 / TEST</a:t>
            </a:r>
          </a:p>
        </p:txBody>
      </p:sp>
      <p:sp>
        <p:nvSpPr>
          <p:cNvPr id="14" name="flow-step-title-3">
            <a:extLst xmlns:a="http://schemas.openxmlformats.org/drawingml/2006/main">
              <a:ext uri="{FF2B5EF4-FFF2-40B4-BE49-F238E27FC236}">
                <a16:creationId xmlns:a16="http://schemas.microsoft.com/office/drawing/2014/main" id="{E9AC2470-A96C-4EA1-92C1-4187510E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43300"/>
            <a:ext cx="3028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Проверить contract</a:t>
            </a:r>
          </a:p>
        </p:txBody>
      </p:sp>
      <p:sp>
        <p:nvSpPr>
          <p:cNvPr id="15" name="flow-step-body-3">
            <a:extLst xmlns:a="http://schemas.openxmlformats.org/drawingml/2006/main">
              <a:ext uri="{FF2B5EF4-FFF2-40B4-BE49-F238E27FC236}">
                <a16:creationId xmlns:a16="http://schemas.microsoft.com/office/drawing/2014/main" id="{30283D24-5CE2-4341-9962-26F32BA4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95750"/>
            <a:ext cx="30289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testApplication подтверждает status, body, auth и error mapping.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2B1210-B337-40F5-9236-39BF339F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879756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ractice-title">
            <a:extLst xmlns:a="http://schemas.openxmlformats.org/drawingml/2006/main">
              <a:ext uri="{FF2B5EF4-FFF2-40B4-BE49-F238E27FC236}">
                <a16:creationId xmlns:a16="http://schemas.microsoft.com/office/drawing/2014/main" id="{240D8EB1-A8BE-46C9-B95A-D7F0B5C8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Лаборатория превращает теорию в доказательство</a:t>
            </a:r>
          </a:p>
        </p:txBody>
      </p:sp>
      <p:sp>
        <p:nvSpPr>
          <p:cNvPr id="2" name="command-strip">
            <a:extLst xmlns:a="http://schemas.openxmlformats.org/drawingml/2006/main">
              <a:ext uri="{FF2B5EF4-FFF2-40B4-BE49-F238E27FC236}">
                <a16:creationId xmlns:a16="http://schemas.microsoft.com/office/drawing/2014/main" id="{12DD94D6-09DD-41B9-8923-3453B37F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14014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" name="practice-command">
            <a:extLst xmlns:a="http://schemas.openxmlformats.org/drawingml/2006/main">
              <a:ext uri="{FF2B5EF4-FFF2-40B4-BE49-F238E27FC236}">
                <a16:creationId xmlns:a16="http://schemas.microsoft.com/office/drawing/2014/main" id="{D8DD27DF-1335-4B70-86D4-37D64C34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23975"/>
            <a:ext cx="109442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t>./gradlew run   # curl /health и Authorization: Bearer study-token</a:t>
            </a:r>
          </a:p>
        </p:txBody>
      </p:sp>
      <p:sp>
        <p:nvSpPr>
          <p:cNvPr id="4" name="tasks-panel">
            <a:extLst xmlns:a="http://schemas.openxmlformats.org/drawingml/2006/main">
              <a:ext uri="{FF2B5EF4-FFF2-40B4-BE49-F238E27FC236}">
                <a16:creationId xmlns:a16="http://schemas.microsoft.com/office/drawing/2014/main" id="{0A378F98-FF0E-47F1-AAD3-A5630089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47900"/>
            <a:ext cx="5534025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5" name="tasks-title">
            <a:extLst xmlns:a="http://schemas.openxmlformats.org/drawingml/2006/main">
              <a:ext uri="{FF2B5EF4-FFF2-40B4-BE49-F238E27FC236}">
                <a16:creationId xmlns:a16="http://schemas.microsoft.com/office/drawing/2014/main" id="{10D72A46-3BCC-40FA-90C5-D2EEF90A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533650"/>
            <a:ext cx="4953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Сделать</a:t>
            </a:r>
          </a:p>
        </p:txBody>
      </p:sp>
      <p:sp>
        <p:nvSpPr>
          <p:cNvPr id="6" name="tasks-list">
            <a:extLst xmlns:a="http://schemas.openxmlformats.org/drawingml/2006/main">
              <a:ext uri="{FF2B5EF4-FFF2-40B4-BE49-F238E27FC236}">
                <a16:creationId xmlns:a16="http://schemas.microsoft.com/office/drawing/2014/main" id="{942233E9-A5FB-48D5-B98B-A17CA3C3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05150"/>
            <a:ext cx="4953000" cy="2152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Перенести health/auth/payment route.
- Подключить serialization и StatusPages.
- Сохранить OpenAPI contract.
- Сравнить wiring со Spring.</a:t>
            </a:r>
          </a:p>
        </p:txBody>
      </p:sp>
      <p:sp>
        <p:nvSpPr>
          <p:cNvPr id="7" name="evidence-panel">
            <a:extLst xmlns:a="http://schemas.openxmlformats.org/drawingml/2006/main">
              <a:ext uri="{FF2B5EF4-FFF2-40B4-BE49-F238E27FC236}">
                <a16:creationId xmlns:a16="http://schemas.microsoft.com/office/drawing/2014/main" id="{BF4A81DC-CF30-40E5-A5C3-D8479967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47900"/>
            <a:ext cx="5534025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8" name="evidence-title">
            <a:extLst xmlns:a="http://schemas.openxmlformats.org/drawingml/2006/main">
              <a:ext uri="{FF2B5EF4-FFF2-40B4-BE49-F238E27FC236}">
                <a16:creationId xmlns:a16="http://schemas.microsoft.com/office/drawing/2014/main" id="{5C84D640-14DB-4687-83E0-12221BF7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533650"/>
            <a:ext cx="4953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Доказать результат</a:t>
            </a:r>
          </a:p>
        </p:txBody>
      </p:sp>
      <p:sp>
        <p:nvSpPr>
          <p:cNvPr id="9" name="evidence-list">
            <a:extLst xmlns:a="http://schemas.openxmlformats.org/drawingml/2006/main">
              <a:ext uri="{FF2B5EF4-FFF2-40B4-BE49-F238E27FC236}">
                <a16:creationId xmlns:a16="http://schemas.microsoft.com/office/drawing/2014/main" id="{1AD4F8FF-1A09-4DBF-9121-FFA4C0CD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05150"/>
            <a:ext cx="4953000" cy="2152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Endpoint работает без Spring annotations.
- Contract tests эквивалентны.
- Execution flow можно пройти по коду.
- Transaction correctness не изменилась.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AAE4F3-4BB4-4B94-8888-BD402F8A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046155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view-eyebrow">
            <a:extLst xmlns:a="http://schemas.openxmlformats.org/drawingml/2006/main">
              <a:ext uri="{FF2B5EF4-FFF2-40B4-BE49-F238E27FC236}">
                <a16:creationId xmlns:a16="http://schemas.microsoft.com/office/drawing/2014/main" id="{77E6856F-1012-4DB9-8C51-2454BE5F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2286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ПРОВЕРКА</a:t>
            </a:r>
          </a:p>
        </p:txBody>
      </p:sp>
      <p:sp>
        <p:nvSpPr>
          <p:cNvPr id="2" name="review-title">
            <a:extLst xmlns:a="http://schemas.openxmlformats.org/drawingml/2006/main">
              <a:ext uri="{FF2B5EF4-FFF2-40B4-BE49-F238E27FC236}">
                <a16:creationId xmlns:a16="http://schemas.microsoft.com/office/drawing/2014/main" id="{F71285F5-DF21-49D6-9186-EDA4A24B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06680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Урок освоен, если решение можно объяснить и проверить</a:t>
            </a:r>
          </a:p>
        </p:txBody>
      </p:sp>
      <p:sp>
        <p:nvSpPr>
          <p:cNvPr id="3" name="criteria-panel">
            <a:extLst xmlns:a="http://schemas.openxmlformats.org/drawingml/2006/main">
              <a:ext uri="{FF2B5EF4-FFF2-40B4-BE49-F238E27FC236}">
                <a16:creationId xmlns:a16="http://schemas.microsoft.com/office/drawing/2014/main" id="{C1ADE82A-4E80-42CE-BB62-4624C9E8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0"/>
            <a:ext cx="5534025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4" name="criteria-title">
            <a:extLst xmlns:a="http://schemas.openxmlformats.org/drawingml/2006/main">
              <a:ext uri="{FF2B5EF4-FFF2-40B4-BE49-F238E27FC236}">
                <a16:creationId xmlns:a16="http://schemas.microsoft.com/office/drawing/2014/main" id="{4473E351-494B-46C8-AA69-6EBDCF8E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93370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Критерии готовности</a:t>
            </a:r>
          </a:p>
        </p:txBody>
      </p:sp>
      <p:sp>
        <p:nvSpPr>
          <p:cNvPr id="5" name="criteria-list">
            <a:extLst xmlns:a="http://schemas.openxmlformats.org/drawingml/2006/main">
              <a:ext uri="{FF2B5EF4-FFF2-40B4-BE49-F238E27FC236}">
                <a16:creationId xmlns:a16="http://schemas.microsoft.com/office/drawing/2014/main" id="{B5ACF7D7-C1A1-42AC-BF5C-B6A51D36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524250"/>
            <a:ext cx="4953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Разделяешь framework и backend guarantees.
- Можешь реализовать handler и testApplication.</a:t>
            </a:r>
          </a:p>
        </p:txBody>
      </p:sp>
      <p:sp>
        <p:nvSpPr>
          <p:cNvPr id="6" name="questions-panel">
            <a:extLst xmlns:a="http://schemas.openxmlformats.org/drawingml/2006/main">
              <a:ext uri="{FF2B5EF4-FFF2-40B4-BE49-F238E27FC236}">
                <a16:creationId xmlns:a16="http://schemas.microsoft.com/office/drawing/2014/main" id="{BC3E0875-3653-4732-8CC7-607EBDBC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67000"/>
            <a:ext cx="5534025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7" name="questions-title">
            <a:extLst xmlns:a="http://schemas.openxmlformats.org/drawingml/2006/main">
              <a:ext uri="{FF2B5EF4-FFF2-40B4-BE49-F238E27FC236}">
                <a16:creationId xmlns:a16="http://schemas.microsoft.com/office/drawing/2014/main" id="{C81AC65D-5973-41DD-8151-40DE473F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3370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Вопросы для разбора</a:t>
            </a:r>
          </a:p>
        </p:txBody>
      </p:sp>
      <p:sp>
        <p:nvSpPr>
          <p:cNvPr id="8" name="questions-list">
            <a:extLst xmlns:a="http://schemas.openxmlformats.org/drawingml/2006/main">
              <a:ext uri="{FF2B5EF4-FFF2-40B4-BE49-F238E27FC236}">
                <a16:creationId xmlns:a16="http://schemas.microsoft.com/office/drawing/2014/main" id="{2C647E0F-7B1D-4686-A67B-60D952C2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524250"/>
            <a:ext cx="4953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Что Spring конфигурирует автоматически?
- Где в Ktor error mapping?
- Какие знания полностью переносимы?</a:t>
            </a:r>
          </a:p>
        </p:txBody>
      </p:sp>
      <p:sp>
        <p:nvSpPr>
          <p:cNvPr id="9" name="review-close">
            <a:extLst xmlns:a="http://schemas.openxmlformats.org/drawingml/2006/main">
              <a:ext uri="{FF2B5EF4-FFF2-40B4-BE49-F238E27FC236}">
                <a16:creationId xmlns:a16="http://schemas.microsoft.com/office/drawing/2014/main" id="{7B5C0E72-6D2E-4E8D-B1E1-827DCD8FA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05500"/>
            <a:ext cx="1066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Следующий шаг: подключить к Ktor ту же PostgreSQL transaction model.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6AE995-3753-44E9-874F-58EB26EC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404934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2026-07-22T07:24:15.9050000Z</dcterms:created>
  <dcterms:modified xsi:type="dcterms:W3CDTF">2026-07-22T07:24:15.9050000Z</dcterms:modified>
</coreProperties>
</file>