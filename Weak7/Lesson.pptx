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f83ae150194210" /><Relationship Type="http://schemas.openxmlformats.org/officeDocument/2006/relationships/extended-properties" Target="/docProps/app.xml" Id="R3e739582d6e44d8f" /><Relationship Type="http://schemas.openxmlformats.org/officeDocument/2006/relationships/officeDocument" Target="/ppt/presentation.xml" Id="Rea3e7db9907c42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79fdaa6c98498b"/>
  </p:sldMasterIdLst>
  <p:notesMasterIdLst>
    <p:notesMasterId xmlns:r="http://schemas.openxmlformats.org/officeDocument/2006/relationships" r:id="Rc021539efd234fd0"/>
  </p:notesMasterIdLst>
  <p:sldIdLst>
    <p:sldId xmlns:r="http://schemas.openxmlformats.org/officeDocument/2006/relationships" id="256" r:id="R7beff8c0ec8e4fdb"/>
    <p:sldId xmlns:r="http://schemas.openxmlformats.org/officeDocument/2006/relationships" id="257" r:id="R76855ee896a84dac"/>
    <p:sldId xmlns:r="http://schemas.openxmlformats.org/officeDocument/2006/relationships" id="258" r:id="R1adf5707c0714d12"/>
    <p:sldId xmlns:r="http://schemas.openxmlformats.org/officeDocument/2006/relationships" id="259" r:id="R4b57463a60ae4090"/>
    <p:sldId xmlns:r="http://schemas.openxmlformats.org/officeDocument/2006/relationships" id="260" r:id="R9217ed7747ec4269"/>
    <p:sldId xmlns:r="http://schemas.openxmlformats.org/officeDocument/2006/relationships" id="261" r:id="R6004c0cf929d4f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1e4d3373da4ffd" /><Relationship Type="http://schemas.openxmlformats.org/officeDocument/2006/relationships/slideMaster" Target="/ppt/slideMasters/slideMaster1.xml" Id="Rca79fdaa6c98498b" /><Relationship Type="http://schemas.openxmlformats.org/officeDocument/2006/relationships/notesMaster" Target="/ppt/notesMasters/notesMaster1.xml" Id="Rc021539efd234fd0" /><Relationship Type="http://schemas.openxmlformats.org/officeDocument/2006/relationships/presProps" Target="/ppt/presProps.xml" Id="Ra644a73564d94947" /><Relationship Type="http://schemas.openxmlformats.org/officeDocument/2006/relationships/tableStyles" Target="/ppt/tableStyles.xml" Id="Rda96b5a65214434b" /><Relationship Type="http://schemas.openxmlformats.org/officeDocument/2006/relationships/slide" Target="/ppt/slides/slide1.xml" Id="R7beff8c0ec8e4fdb" /><Relationship Type="http://schemas.openxmlformats.org/officeDocument/2006/relationships/slide" Target="/ppt/slides/slide2.xml" Id="R76855ee896a84dac" /><Relationship Type="http://schemas.openxmlformats.org/officeDocument/2006/relationships/slide" Target="/ppt/slides/slide3.xml" Id="R1adf5707c0714d12" /><Relationship Type="http://schemas.openxmlformats.org/officeDocument/2006/relationships/slide" Target="/ppt/slides/slide4.xml" Id="R4b57463a60ae4090" /><Relationship Type="http://schemas.openxmlformats.org/officeDocument/2006/relationships/slide" Target="/ppt/slides/slide5.xml" Id="R9217ed7747ec4269" /><Relationship Type="http://schemas.openxmlformats.org/officeDocument/2006/relationships/slide" Target="/ppt/slides/slide6.xml" Id="R6004c0cf929d4f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0428c2022b45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879c0ad0f14157" /><Relationship Type="http://schemas.openxmlformats.org/officeDocument/2006/relationships/notesMaster" Target="/ppt/notesMasters/notesMaster1.xml" Id="R924397c7557840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cf11c695f44060" /><Relationship Type="http://schemas.openxmlformats.org/officeDocument/2006/relationships/notesMaster" Target="/ppt/notesMasters/notesMaster1.xml" Id="R0ae2f5cbd3474d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0402f2160d4d30" /><Relationship Type="http://schemas.openxmlformats.org/officeDocument/2006/relationships/notesMaster" Target="/ppt/notesMasters/notesMaster1.xml" Id="Rb6cff173dce044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2dc5289e36481e" /><Relationship Type="http://schemas.openxmlformats.org/officeDocument/2006/relationships/notesMaster" Target="/ppt/notesMasters/notesMaster1.xml" Id="Rb12e3e780e214f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016e619f724929" /><Relationship Type="http://schemas.openxmlformats.org/officeDocument/2006/relationships/notesMaster" Target="/ppt/notesMasters/notesMaster1.xml" Id="Rceb62a86e38b45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5cf99f051b4fc6" /><Relationship Type="http://schemas.openxmlformats.org/officeDocument/2006/relationships/notesMaster" Target="/ppt/notesMasters/notesMaster1.xml" Id="R8523f14f75e34c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4b62f37f245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2923e95a9041a8" /><Relationship Type="http://schemas.openxmlformats.org/officeDocument/2006/relationships/slideLayout" Target="/ppt/slideLayouts/slideLayout1.xml" Id="R467c7f1318de45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7c7f1318de45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1d59853914126" /><Relationship Type="http://schemas.openxmlformats.org/officeDocument/2006/relationships/notesSlide" Target="/ppt/notesSlides/notesSlide1.xml" Id="R60e961604d8c4b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028e5fd8247c4" /><Relationship Type="http://schemas.openxmlformats.org/officeDocument/2006/relationships/notesSlide" Target="/ppt/notesSlides/notesSlide2.xml" Id="R31c3cba72b3b40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60f2293cc4848" /><Relationship Type="http://schemas.openxmlformats.org/officeDocument/2006/relationships/notesSlide" Target="/ppt/notesSlides/notesSlide3.xml" Id="Rdb3d9167e8174d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46b6919d44cc6" /><Relationship Type="http://schemas.openxmlformats.org/officeDocument/2006/relationships/notesSlide" Target="/ppt/notesSlides/notesSlide4.xml" Id="Rbfbfb32c719442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7d7521c734065" /><Relationship Type="http://schemas.openxmlformats.org/officeDocument/2006/relationships/notesSlide" Target="/ppt/notesSlides/notesSlide5.xml" Id="R8512a36dafb34a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42ad70f254c55" /><Relationship Type="http://schemas.openxmlformats.org/officeDocument/2006/relationships/notesSlide" Target="/ppt/notesSlides/notesSlide6.xml" Id="Rc1a05afc514c4f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7BC37796-9B20-4981-B00F-4FD1BFA8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7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38A30E76-6F84-404A-8E9A-6DF66B82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A033928-17C5-4DA8-9760-0191FADA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E10D8C15-1A7C-4A71-933C-AFCBDAEB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Блокировки, дедлоки и финтех-корректность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247B0100-AD30-4F80-B01E-CDFA3EE8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Управлять конкурентным изменением денег, диагностировать waits и защищать повторные запросы.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1A24062C-DF98-44A9-9D65-082AC6C1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1420463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AAC46DB6-9369-4E5B-B03D-857B0B58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51C92044-8FE7-4FAC-A3F5-2B7552CB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Корректный перевод объединяет единый lock order, неизменяемый ledger и DB-backed idempotency.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CC90038D-CE53-4E7D-924E-AB5BF137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88CF5F19-157A-4AFF-ADB6-F3488B72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Locks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2A3FC876-C5D9-4AE4-93CE-4B35F00C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Row/table modes, waits, timeouts и pg_locks объясняют, кто кого блокирует.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409BDAEE-0730-40B6-A5D4-5CD74841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AC76683E-5FB4-41FF-9DB3-A4C412E2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Deadlock safety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9CE3BD29-444A-41FD-9A84-22B70D4F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Единый порядок ресурсов предотвращает cycle; victim retry ограничен и классифицирован.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E04E6CB9-C243-4165-84D7-E66DD33D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31972EA6-1ED1-489A-B77E-0039DBF4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Fintech invariants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0141AA9C-FA39-4324-B20C-108F85B5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UNIQUE idempotency key, две ledger entries и проверка общей суммы защищают деньги.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F0E63-279A-404C-A4CA-4BBB6215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6676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078DC91E-CD0F-4E48-8CE5-FAB1754A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Блокировка - средство, а не бизнес-гарантия сама по себе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6151A497-0145-468B-92FB-F57E0A5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2CAE8289-7607-4A47-B2C9-0A77F56A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Wait-for cycle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5C187C8B-0499-4A30-982F-99C28C6B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A ждёт B, B ждёт A; PostgreSQL обнаруживает цикл и откатывает одну транзакцию.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B88601BA-68FC-475E-B501-229B53A9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164AEF74-BDA1-42B6-A9BB-882ABE79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Ordered locks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62DC1AF1-B46C-4A2D-81A9-4E889A0F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Оба перевода блокируют меньший account id первым, разрывая возможность цикла.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E4E572FA-AF68-4B23-B854-EC7A1BBB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4F90DEAE-0C27-44BF-A360-CC8770EA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Idempotency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54066F53-EAF3-43BF-95B3-D4CE48AA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Один key сопоставляется одному результату и закрепляется UNIQUE constraint внутри транзакции.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F3B3A385-A7E2-4E15-B2AA-8C5078AF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B863F2ED-69FB-4BDF-B839-81BE1EBE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Ledger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8C1E2E6D-DBDF-41DF-BE84-E5F9392F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Две неизменяемые проводки образуют audit trail; баланс можно рассматривать как projection.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744D6-F78B-45FA-AC85-CA894008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2748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76D73FE4-4890-4C49-88EC-F626CA04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Безопасный перевод: порядок до изменения денег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ED795315-60F9-4F96-8C3B-6AEBDD15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Повтор запроса возвращает прежний результат, а конкуренты сохраняют инвариант общей суммы.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DDF650A5-8228-4F29-8008-17EB2BEB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EF94EC38-387B-406D-BB5A-085BA98C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2DBC592C-DEA4-4568-BE51-2070BE16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DEDUP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E62742DB-1CD4-4DC2-8281-67193F02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key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EEAD0C8D-14BB-469A-8F99-8345A24E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Найти существующий результат или зарезервировать UNIQUE idempotency key.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35C5712A-0125-4178-9574-66BF8B1F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8FD6908A-0EDB-40CD-8EDD-95C32B9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LOCK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625EACF1-11C4-4911-8E8B-CAF0815A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Заблокировать счета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DB9E2007-86AD-4E38-9F09-0D004EA3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Взять оба row locks в едином сортированном порядке.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8FE09075-C33B-4DFA-BA40-1DA17EB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718D8C6C-B488-4031-845F-9B3051FC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POST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9A43B099-CC0C-429B-A1B5-4FF7CAD4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Записать ledger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5CC20E81-135A-4B30-86EE-322E663E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баланс, создать debit/credit и commit одним атомарным шагом.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BE5DC-C652-44F8-AED5-BCDE42C8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2716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7F08E6F4-2D1D-4141-8CC1-5DC5C885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FF791798-C5EE-4262-8410-3477FE0F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21377AD0-88B9-47C2-B1A7-4E750923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docker compose up -d &amp;&amp; ./gradlew test   # затем 50 parallel transfers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B5E69B41-0847-40EC-932F-13726991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1FF70EA7-077A-4245-910C-021B76E5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F98A01F5-0400-4BE3-B874-87CA6CC0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Намеренно создать deadlock A-&gt;B / B-&gt;A.
- Найти blocker в pg_stat_activity/pg_locks.
- Восстановить ordered locks.
- Повторить POST с тем же idempotency key.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59B5B47F-27FB-4E80-A975-1AD7510D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418EC028-73DA-4BF2-A7EA-442D6E27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5EE7F6A7-B8C3-41E4-9564-D02D19AB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Deadlock имеет SQL и timeline.
- Одинаковый key не создаёт второй transfer.
- 50 конкурентов сохраняют общую сумму.
- Retry применяется только к 40P01/40001.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E9541-8E91-43FA-964D-068F671B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7072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18432F79-7B65-4BEE-A4F5-18D44543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0B211EFD-D349-4FD1-A72C-2170133F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7D2EA735-A7F0-4B3C-88E9-22BA36E3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C3579471-CD83-446F-B0ED-FA3D8861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37FD339B-5F12-4870-9078-9F40785A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Можешь воспроизвести и объяснить deadlock.
- Параллельный тест не нарушает денежный инвариант.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46832828-C364-43E2-86E5-70B2FD04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D2144F5E-7F59-410C-A5B8-B7662504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FFF7101A-DF8F-464C-8BB3-78C204BA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Как возникает A-&gt;B / B-&gt;A deadlock?
- Когда optimistic lock лучше row lock?
- Зачем key нужен UNIQUE constraint?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AEFB0A24-DFF7-4FEA-BBED-962A5139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перенести эти гарантии через Spring Data и миграции.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48142-1C40-4FA0-A090-1DC0A68B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4619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2026-07-22T07:24:13.7230000Z</dcterms:created>
  <dcterms:modified xsi:type="dcterms:W3CDTF">2026-07-22T07:24:13.7230000Z</dcterms:modified>
</coreProperties>
</file>